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 id="2147483713" r:id="rId2"/>
  </p:sldMasterIdLst>
  <p:notesMasterIdLst>
    <p:notesMasterId r:id="rId24"/>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9" r:id="rId15"/>
    <p:sldId id="268" r:id="rId16"/>
    <p:sldId id="270" r:id="rId17"/>
    <p:sldId id="271" r:id="rId18"/>
    <p:sldId id="272" r:id="rId19"/>
    <p:sldId id="278" r:id="rId20"/>
    <p:sldId id="276" r:id="rId21"/>
    <p:sldId id="275" r:id="rId22"/>
    <p:sldId id="277" r:id="rId23"/>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61176" autoAdjust="0"/>
  </p:normalViewPr>
  <p:slideViewPr>
    <p:cSldViewPr snapToGrid="0">
      <p:cViewPr varScale="1">
        <p:scale>
          <a:sx n="50" d="100"/>
          <a:sy n="50" d="100"/>
        </p:scale>
        <p:origin x="2088" y="43"/>
      </p:cViewPr>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elesh Pandey" userId="e1a78faed0ab119e" providerId="LiveId" clId="{8BF5C159-A079-4834-8FA9-5FB0CAB57D3A}"/>
    <pc:docChg chg="undo redo custSel addSld delSld modSld sldOrd modNotesMaster">
      <pc:chgData name="Neelesh Pandey" userId="e1a78faed0ab119e" providerId="LiveId" clId="{8BF5C159-A079-4834-8FA9-5FB0CAB57D3A}" dt="2026-06-04T18:49:26.565" v="2399" actId="20577"/>
      <pc:docMkLst>
        <pc:docMk/>
      </pc:docMkLst>
      <pc:sldChg chg="ord modNotesTx">
        <pc:chgData name="Neelesh Pandey" userId="e1a78faed0ab119e" providerId="LiveId" clId="{8BF5C159-A079-4834-8FA9-5FB0CAB57D3A}" dt="2026-06-04T18:49:26.565" v="2399" actId="20577"/>
        <pc:sldMkLst>
          <pc:docMk/>
          <pc:sldMk cId="1278791833" sldId="2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IN"/>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C1599A1F-13E9-4091-965F-C631721E661D}" type="datetimeFigureOut">
              <a:rPr lang="en-IN" smtClean="0"/>
              <a:t>05-06-2026</a:t>
            </a:fld>
            <a:endParaRPr lang="en-IN"/>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IN"/>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IN"/>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BD6647E6-4491-4109-8BE6-B03F9EC65F66}" type="slidenum">
              <a:rPr lang="en-IN" smtClean="0"/>
              <a:t>‹#›</a:t>
            </a:fld>
            <a:endParaRPr lang="en-IN"/>
          </a:p>
        </p:txBody>
      </p:sp>
    </p:spTree>
    <p:extLst>
      <p:ext uri="{BB962C8B-B14F-4D97-AF65-F5344CB8AC3E}">
        <p14:creationId xmlns:p14="http://schemas.microsoft.com/office/powerpoint/2010/main" val="920814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talk about Jupiter, we are not simply discussing the largest planet in the Solar System, we are examining a physical system that encodes the history of planetary formation itself. Jupiter contains more than twice the mass of all other planets combined, and its gravity, magnetic field, and atmosphere dominate the Solar System’s dynamical and energetic budget.</a:t>
            </a:r>
          </a:p>
          <a:p>
            <a:r>
              <a:rPr lang="en-US" dirty="0"/>
              <a:t>What makes Jupiter scientifically exceptional is not just its scale, but the quality and diversity of data we now possess. Over the last five decades, spacecraft missions and telescopes have observed Jupiter across gravity, magnetic, microwave, infrared, ultraviolet, and radio wavelengths. These observations allow us to move beyond qualitative descriptions and instead place quantitative constraints on Jupiter’s interior structure, formation pathway, atmospheric dynamics, and magnetospheric processes.</a:t>
            </a:r>
          </a:p>
          <a:p>
            <a:r>
              <a:rPr lang="en-US" dirty="0"/>
              <a:t>In this talk,…I’ll talk more about the observed data and less about the models. This distinction is important, because many long-standing assumptions about Jupiter have been revised precisely due to new observational constraints.</a:t>
            </a:r>
          </a:p>
          <a:p>
            <a:pPr defTabSz="966612">
              <a:defRPr/>
            </a:pPr>
            <a:r>
              <a:rPr lang="en-US" dirty="0"/>
              <a:t>By the end of this talk, I hope to show that Jupiter is not a static gas giant and that understanding Jupiter is essential not only for our Solar System, but for gas giants observed throughout the galaxy.</a:t>
            </a:r>
          </a:p>
        </p:txBody>
      </p:sp>
      <p:sp>
        <p:nvSpPr>
          <p:cNvPr id="4" name="Slide Number Placeholder 3"/>
          <p:cNvSpPr>
            <a:spLocks noGrp="1"/>
          </p:cNvSpPr>
          <p:nvPr>
            <p:ph type="sldNum" sz="quarter" idx="5"/>
          </p:nvPr>
        </p:nvSpPr>
        <p:spPr/>
        <p:txBody>
          <a:bodyPr/>
          <a:lstStyle/>
          <a:p>
            <a:fld id="{BD6647E6-4491-4109-8BE6-B03F9EC65F66}" type="slidenum">
              <a:rPr lang="en-IN" smtClean="0"/>
              <a:t>1</a:t>
            </a:fld>
            <a:endParaRPr lang="en-IN"/>
          </a:p>
        </p:txBody>
      </p:sp>
    </p:spTree>
    <p:extLst>
      <p:ext uri="{BB962C8B-B14F-4D97-AF65-F5344CB8AC3E}">
        <p14:creationId xmlns:p14="http://schemas.microsoft.com/office/powerpoint/2010/main" val="16188194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Jupiter is one of the most extensively observed planets. Early flybys by Pioneer and Voyager provided global context. The Galileo orbiter and entry probe gave us in-situ atmospheric data. Juno has revolutionized our understanding of Jupiter’s interior, gravity, and magnetic field. Complementing spacecraft data, space telescopes like Hubble and JWST and ground-based radio and infrared facilities allow long-term, multi-wavelength monitoring.</a:t>
            </a:r>
            <a:endParaRPr lang="en-IN" dirty="0"/>
          </a:p>
        </p:txBody>
      </p:sp>
      <p:sp>
        <p:nvSpPr>
          <p:cNvPr id="4" name="Slide Number Placeholder 3"/>
          <p:cNvSpPr>
            <a:spLocks noGrp="1"/>
          </p:cNvSpPr>
          <p:nvPr>
            <p:ph type="sldNum" sz="quarter" idx="5"/>
          </p:nvPr>
        </p:nvSpPr>
        <p:spPr/>
        <p:txBody>
          <a:bodyPr/>
          <a:lstStyle/>
          <a:p>
            <a:fld id="{BD6647E6-4491-4109-8BE6-B03F9EC65F66}" type="slidenum">
              <a:rPr lang="en-IN" smtClean="0"/>
              <a:t>2</a:t>
            </a:fld>
            <a:endParaRPr lang="en-IN"/>
          </a:p>
        </p:txBody>
      </p:sp>
    </p:spTree>
    <p:extLst>
      <p:ext uri="{BB962C8B-B14F-4D97-AF65-F5344CB8AC3E}">
        <p14:creationId xmlns:p14="http://schemas.microsoft.com/office/powerpoint/2010/main" val="2354210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41FCE-C8CE-35C0-DD7F-F0A4B97BB5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E9F835-9471-BF8E-A613-446163D437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0BA553-0B17-62DD-D142-AABCA40F190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EDCD92D-4190-B8F6-5857-71E9C2978443}"/>
              </a:ext>
            </a:extLst>
          </p:cNvPr>
          <p:cNvSpPr>
            <a:spLocks noGrp="1"/>
          </p:cNvSpPr>
          <p:nvPr>
            <p:ph type="sldNum" sz="quarter" idx="5"/>
          </p:nvPr>
        </p:nvSpPr>
        <p:spPr/>
        <p:txBody>
          <a:bodyPr/>
          <a:lstStyle/>
          <a:p>
            <a:fld id="{BD6647E6-4491-4109-8BE6-B03F9EC65F66}" type="slidenum">
              <a:rPr lang="en-IN" smtClean="0"/>
              <a:t>3</a:t>
            </a:fld>
            <a:endParaRPr lang="en-IN"/>
          </a:p>
        </p:txBody>
      </p:sp>
    </p:spTree>
    <p:extLst>
      <p:ext uri="{BB962C8B-B14F-4D97-AF65-F5344CB8AC3E}">
        <p14:creationId xmlns:p14="http://schemas.microsoft.com/office/powerpoint/2010/main" val="13524730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Jupiter formed very early in the history of the Solar System, within the </a:t>
            </a:r>
            <a:r>
              <a:rPr lang="en-US" b="1" dirty="0"/>
              <a:t>solar nebula</a:t>
            </a:r>
            <a:r>
              <a:rPr lang="en-US" dirty="0"/>
              <a:t>, the rotating disk of gas and dust surrounding the young Sun about 4.6 billion years ago. Conditions in this disk varied strongly with distance from the Sun, and that gradient is critical to understanding why Jupiter formed where it did.</a:t>
            </a:r>
          </a:p>
          <a:p>
            <a:r>
              <a:rPr lang="en-US" dirty="0"/>
              <a:t>Beyond the </a:t>
            </a:r>
            <a:r>
              <a:rPr lang="en-US" b="1" dirty="0"/>
              <a:t>snow line</a:t>
            </a:r>
            <a:r>
              <a:rPr lang="en-US" dirty="0"/>
              <a:t>, temperatures were low enough for water to condense into ice. This dramatically increased the amount of solid material available, allowing rapid growth of planetary building blocks. In this region, Jupiter’s core formed efficiently through a combination of </a:t>
            </a:r>
            <a:r>
              <a:rPr lang="en-US" b="1" dirty="0"/>
              <a:t>planetesimal accretion</a:t>
            </a:r>
            <a:r>
              <a:rPr lang="en-US" dirty="0"/>
              <a:t> and, later, </a:t>
            </a:r>
            <a:r>
              <a:rPr lang="en-US" b="1" dirty="0"/>
              <a:t>pebble accretion</a:t>
            </a:r>
            <a:r>
              <a:rPr lang="en-US" dirty="0"/>
              <a:t>, reaching a mass of roughly 10–20 Earth masses.</a:t>
            </a:r>
          </a:p>
          <a:p>
            <a:r>
              <a:rPr lang="en-US" dirty="0"/>
              <a:t>Once this core crossed a </a:t>
            </a:r>
            <a:r>
              <a:rPr lang="en-US" b="1" dirty="0"/>
              <a:t>critical mass</a:t>
            </a:r>
            <a:r>
              <a:rPr lang="en-US" dirty="0"/>
              <a:t>, it could no longer remain in equilibrium with the surrounding gas. This triggered </a:t>
            </a:r>
            <a:r>
              <a:rPr lang="en-US" b="1" dirty="0"/>
              <a:t>runaway gas accretion</a:t>
            </a:r>
            <a:r>
              <a:rPr lang="en-US" dirty="0"/>
              <a:t>, during which Jupiter rapidly captured large amounts of hydrogen and helium from the disk. Initially, gas accretion was regulated by the planet’s envelope cooling, but it later became </a:t>
            </a:r>
            <a:r>
              <a:rPr lang="en-US" b="1" dirty="0"/>
              <a:t>hydrodynamically limited</a:t>
            </a:r>
            <a:r>
              <a:rPr lang="en-US" dirty="0"/>
              <a:t>, controlled by how fast gas could flow through the disk.</a:t>
            </a:r>
          </a:p>
          <a:p>
            <a:r>
              <a:rPr lang="en-US" dirty="0"/>
              <a:t>As Jupiter grew, its gravity became strong enough to </a:t>
            </a:r>
            <a:r>
              <a:rPr lang="en-US" b="1" dirty="0"/>
              <a:t>open a gap in the protoplanetary disk</a:t>
            </a:r>
            <a:r>
              <a:rPr lang="en-US" dirty="0"/>
              <a:t>, slowing further gas inflow and effectively regulating its final mass. Growth likely stopped when the disk itself dispersed due to </a:t>
            </a:r>
            <a:r>
              <a:rPr lang="en-US" b="1" dirty="0"/>
              <a:t>photoevaporation and stellar winds</a:t>
            </a:r>
            <a:r>
              <a:rPr lang="en-US" dirty="0"/>
              <a:t>, cutting off Jupiter’s gas supply entirely.</a:t>
            </a:r>
          </a:p>
          <a:p>
            <a:r>
              <a:rPr lang="en-US" dirty="0"/>
              <a:t>During this phase, Jupiter likely experienced </a:t>
            </a:r>
            <a:r>
              <a:rPr lang="en-US" b="1" dirty="0"/>
              <a:t>radial migration</a:t>
            </a:r>
            <a:r>
              <a:rPr lang="en-US" dirty="0"/>
              <a:t>, moving inward and possibly outward, reshaping the distribution of material in the Solar System. Its early formation and large mass allowed it to gravitationally perturb planetesimals, influencing the structure of the asteroid belt and the delivery of material to the inner planets.</a:t>
            </a:r>
          </a:p>
          <a:p>
            <a:r>
              <a:rPr lang="en-US" dirty="0"/>
              <a:t>Finally, the observed </a:t>
            </a:r>
            <a:r>
              <a:rPr lang="en-US" b="1" dirty="0"/>
              <a:t>heavy-element enrichment</a:t>
            </a:r>
            <a:r>
              <a:rPr lang="en-US" dirty="0"/>
              <a:t> in Jupiter’s atmosphere tells us that solid accretion did not stop once gas capture began. Instead, Jupiter continued to incorporate solids during and after gas accretion, leaving a chemical fingerprint of its formation history.</a:t>
            </a:r>
          </a:p>
          <a:p>
            <a:r>
              <a:rPr lang="en-US" dirty="0"/>
              <a:t>Overall, Jupiter formed fast, grew massive early, and became the </a:t>
            </a:r>
            <a:r>
              <a:rPr lang="en-US" b="1" dirty="0"/>
              <a:t>dominant architect of the Solar System</a:t>
            </a:r>
            <a:r>
              <a:rPr lang="en-US" dirty="0"/>
              <a:t> while planets were still forming.</a:t>
            </a:r>
          </a:p>
          <a:p>
            <a:endParaRPr lang="en-IN" dirty="0"/>
          </a:p>
        </p:txBody>
      </p:sp>
      <p:sp>
        <p:nvSpPr>
          <p:cNvPr id="4" name="Slide Number Placeholder 3"/>
          <p:cNvSpPr>
            <a:spLocks noGrp="1"/>
          </p:cNvSpPr>
          <p:nvPr>
            <p:ph type="sldNum" sz="quarter" idx="5"/>
          </p:nvPr>
        </p:nvSpPr>
        <p:spPr/>
        <p:txBody>
          <a:bodyPr/>
          <a:lstStyle/>
          <a:p>
            <a:fld id="{BD6647E6-4491-4109-8BE6-B03F9EC65F66}" type="slidenum">
              <a:rPr lang="en-IN" smtClean="0"/>
              <a:t>4</a:t>
            </a:fld>
            <a:endParaRPr lang="en-IN"/>
          </a:p>
        </p:txBody>
      </p:sp>
    </p:spTree>
    <p:extLst>
      <p:ext uri="{BB962C8B-B14F-4D97-AF65-F5344CB8AC3E}">
        <p14:creationId xmlns:p14="http://schemas.microsoft.com/office/powerpoint/2010/main" val="37063106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a:t>Hubble’s observations of </a:t>
            </a:r>
            <a:r>
              <a:rPr lang="en-US" b="1" dirty="0"/>
              <a:t>Beta </a:t>
            </a:r>
            <a:r>
              <a:rPr lang="en-US" b="1" dirty="0" err="1"/>
              <a:t>Pictoris</a:t>
            </a:r>
            <a:r>
              <a:rPr lang="en-US" b="1" dirty="0"/>
              <a:t> b</a:t>
            </a:r>
            <a:r>
              <a:rPr lang="en-US" dirty="0"/>
              <a:t> provided a direct analogue for a young Jupiter-mass planet, showing that gas giants can form </a:t>
            </a:r>
            <a:r>
              <a:rPr lang="en-US" b="1" dirty="0"/>
              <a:t>very early</a:t>
            </a:r>
            <a:r>
              <a:rPr lang="en-US" dirty="0"/>
              <a:t>, within a few million years. The warped, edge-on debris disk revealed clear </a:t>
            </a:r>
            <a:r>
              <a:rPr lang="en-US" b="1" dirty="0"/>
              <a:t>planet–disk interactions</a:t>
            </a:r>
            <a:r>
              <a:rPr lang="en-US" dirty="0"/>
              <a:t>, offering observational support for how Jupiter sculpted the early Solar System, particularly the asteroid belt. The planet’s luminosity and temperature constrained </a:t>
            </a:r>
            <a:r>
              <a:rPr lang="en-US" b="1" dirty="0"/>
              <a:t>cooling and contraction models</a:t>
            </a:r>
            <a:r>
              <a:rPr lang="en-US" dirty="0"/>
              <a:t>, refining our understanding of Jupiter’s post-formation thermal evolution. Finally, the system demonstrated that an early-forming giant planet can restructure its surroundings.</a:t>
            </a:r>
          </a:p>
          <a:p>
            <a:endParaRPr lang="en-IN" dirty="0"/>
          </a:p>
        </p:txBody>
      </p:sp>
      <p:sp>
        <p:nvSpPr>
          <p:cNvPr id="4" name="Slide Number Placeholder 3"/>
          <p:cNvSpPr>
            <a:spLocks noGrp="1"/>
          </p:cNvSpPr>
          <p:nvPr>
            <p:ph type="sldNum" sz="quarter" idx="5"/>
          </p:nvPr>
        </p:nvSpPr>
        <p:spPr/>
        <p:txBody>
          <a:bodyPr/>
          <a:lstStyle/>
          <a:p>
            <a:fld id="{BD6647E6-4491-4109-8BE6-B03F9EC65F66}" type="slidenum">
              <a:rPr lang="en-IN" smtClean="0"/>
              <a:t>5</a:t>
            </a:fld>
            <a:endParaRPr lang="en-IN"/>
          </a:p>
        </p:txBody>
      </p:sp>
    </p:spTree>
    <p:extLst>
      <p:ext uri="{BB962C8B-B14F-4D97-AF65-F5344CB8AC3E}">
        <p14:creationId xmlns:p14="http://schemas.microsoft.com/office/powerpoint/2010/main" val="40547884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early stages, when Jupiter was still growing and had not yet opened a deep gap in the disk, it would have undergone </a:t>
            </a:r>
            <a:r>
              <a:rPr lang="en-US" b="1" dirty="0"/>
              <a:t>Type I migration</a:t>
            </a:r>
            <a:r>
              <a:rPr lang="en-US" dirty="0"/>
              <a:t>, moving relatively quickly due to asymmetric torques from the surrounding gas. As Jupiter became more massive and opened a gap, it transitioned to </a:t>
            </a:r>
            <a:r>
              <a:rPr lang="en-US" b="1" dirty="0"/>
              <a:t>Type II migration</a:t>
            </a:r>
            <a:r>
              <a:rPr lang="en-US" dirty="0"/>
              <a:t>, where its motion became coupled to the viscous evolution of the disk itself.</a:t>
            </a:r>
          </a:p>
          <a:p>
            <a:endParaRPr lang="en-US" dirty="0"/>
          </a:p>
          <a:p>
            <a:r>
              <a:rPr lang="en-US" dirty="0"/>
              <a:t>GRAPH:</a:t>
            </a:r>
          </a:p>
          <a:p>
            <a:r>
              <a:rPr lang="en-US" dirty="0"/>
              <a:t>The top panel shows planetary mass growth versus time; Jupiter grows first and fastest, reaching runaway gas accretion early.</a:t>
            </a:r>
          </a:p>
          <a:p>
            <a:r>
              <a:rPr lang="en-US" dirty="0"/>
              <a:t>Saturn grows later, while Uranus and Neptune never reach the mass needed for runaway gas capture.</a:t>
            </a:r>
          </a:p>
          <a:p>
            <a:r>
              <a:rPr lang="en-US" dirty="0"/>
              <a:t>This explains why Jupiter and Saturn are gas giants, but Uranus and Neptune are ice giants.</a:t>
            </a:r>
          </a:p>
          <a:p>
            <a:r>
              <a:rPr lang="en-US" dirty="0"/>
              <a:t>The bottom panel shows the evolution of orbital distance with time.</a:t>
            </a:r>
          </a:p>
          <a:p>
            <a:r>
              <a:rPr lang="en-US" dirty="0"/>
              <a:t>Jupiter initially migrates inward due to gravitational interaction with the gas disk.</a:t>
            </a:r>
          </a:p>
          <a:p>
            <a:r>
              <a:rPr lang="en-US" dirty="0"/>
              <a:t>As Saturn grows, it approaches Jupiter and becomes locked in a mean-motion resonance.</a:t>
            </a:r>
          </a:p>
          <a:p>
            <a:r>
              <a:rPr lang="en-US" dirty="0"/>
              <a:t>This resonance reverses the direction of migration, causing outward migration of both planets.</a:t>
            </a:r>
          </a:p>
          <a:p>
            <a:r>
              <a:rPr lang="en-US" dirty="0"/>
              <a:t>Uranus and Neptune are pushed further outward during this phase.</a:t>
            </a:r>
          </a:p>
          <a:p>
            <a:r>
              <a:rPr lang="en-US" dirty="0"/>
              <a:t>This inward-then-outward path is the “Grand Tack” scenario.</a:t>
            </a:r>
          </a:p>
          <a:p>
            <a:r>
              <a:rPr lang="en-US" dirty="0"/>
              <a:t>The process reshaped the inner Solar System and the asteroid belt.</a:t>
            </a:r>
          </a:p>
          <a:p>
            <a:endParaRPr lang="en-IN" dirty="0"/>
          </a:p>
        </p:txBody>
      </p:sp>
      <p:sp>
        <p:nvSpPr>
          <p:cNvPr id="4" name="Slide Number Placeholder 3"/>
          <p:cNvSpPr>
            <a:spLocks noGrp="1"/>
          </p:cNvSpPr>
          <p:nvPr>
            <p:ph type="sldNum" sz="quarter" idx="5"/>
          </p:nvPr>
        </p:nvSpPr>
        <p:spPr/>
        <p:txBody>
          <a:bodyPr/>
          <a:lstStyle/>
          <a:p>
            <a:fld id="{BD6647E6-4491-4109-8BE6-B03F9EC65F66}" type="slidenum">
              <a:rPr lang="en-IN" smtClean="0"/>
              <a:t>6</a:t>
            </a:fld>
            <a:endParaRPr lang="en-IN"/>
          </a:p>
        </p:txBody>
      </p:sp>
    </p:spTree>
    <p:extLst>
      <p:ext uri="{BB962C8B-B14F-4D97-AF65-F5344CB8AC3E}">
        <p14:creationId xmlns:p14="http://schemas.microsoft.com/office/powerpoint/2010/main" val="17370013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Event:</a:t>
            </a:r>
            <a:r>
              <a:rPr lang="en-IN" dirty="0"/>
              <a:t> Comet Shoemaker–Levy 9 injected material into Jupiter’s </a:t>
            </a:r>
            <a:r>
              <a:rPr lang="en-IN" b="1" dirty="0"/>
              <a:t>stratosphere (~1–10 mbar)</a:t>
            </a:r>
            <a:r>
              <a:rPr lang="en-IN" dirty="0"/>
              <a:t>.</a:t>
            </a:r>
          </a:p>
          <a:p>
            <a:r>
              <a:rPr lang="en-IN" b="1" dirty="0"/>
              <a:t>Plume heights:</a:t>
            </a:r>
            <a:r>
              <a:rPr lang="en-IN" dirty="0"/>
              <a:t> up to </a:t>
            </a:r>
            <a:r>
              <a:rPr lang="en-IN" b="1" dirty="0"/>
              <a:t>2,500–3,000 km</a:t>
            </a:r>
            <a:r>
              <a:rPr lang="en-IN" dirty="0"/>
              <a:t> above cloud tops → confirms stratospheric deposition.</a:t>
            </a:r>
          </a:p>
          <a:p>
            <a:r>
              <a:rPr lang="en-IN" b="1" dirty="0"/>
              <a:t>Particle size:</a:t>
            </a:r>
            <a:r>
              <a:rPr lang="en-IN" dirty="0"/>
              <a:t> inferred </a:t>
            </a:r>
            <a:r>
              <a:rPr lang="en-IN" b="1" dirty="0"/>
              <a:t>sub-micron aerosols (~0.1–1 </a:t>
            </a:r>
            <a:r>
              <a:rPr lang="el-GR" b="1" dirty="0"/>
              <a:t>μ</a:t>
            </a:r>
            <a:r>
              <a:rPr lang="en-IN" b="1" dirty="0"/>
              <a:t>m)</a:t>
            </a:r>
            <a:r>
              <a:rPr lang="en-IN" dirty="0"/>
              <a:t> from scattering and IR opacity.</a:t>
            </a:r>
          </a:p>
          <a:p>
            <a:r>
              <a:rPr lang="en-IN" b="1" dirty="0"/>
              <a:t>Composition indicators:</a:t>
            </a:r>
            <a:r>
              <a:rPr lang="en-IN" dirty="0"/>
              <a:t> detection of </a:t>
            </a:r>
            <a:r>
              <a:rPr lang="en-IN" b="1" dirty="0"/>
              <a:t>CS, SO₂, CO, H₂O</a:t>
            </a:r>
            <a:r>
              <a:rPr lang="en-IN" dirty="0"/>
              <a:t> → </a:t>
            </a:r>
            <a:r>
              <a:rPr lang="en-IN" dirty="0" err="1"/>
              <a:t>sulfur</a:t>
            </a:r>
            <a:r>
              <a:rPr lang="en-IN" dirty="0"/>
              <a:t>- and carbon-rich aerosols.</a:t>
            </a:r>
          </a:p>
          <a:p>
            <a:r>
              <a:rPr lang="en-IN" b="1" dirty="0"/>
              <a:t>Optical depth:</a:t>
            </a:r>
            <a:r>
              <a:rPr lang="en-IN" dirty="0"/>
              <a:t> impact sites showed </a:t>
            </a:r>
            <a:r>
              <a:rPr lang="en-IN" b="1" dirty="0"/>
              <a:t>strong UV–visible darkening</a:t>
            </a:r>
            <a:r>
              <a:rPr lang="en-IN" dirty="0"/>
              <a:t>, consistent with absorbing aerosols.</a:t>
            </a:r>
          </a:p>
          <a:p>
            <a:r>
              <a:rPr lang="en-IN" b="1" dirty="0"/>
              <a:t>Thermal effect:</a:t>
            </a:r>
            <a:r>
              <a:rPr lang="en-IN" dirty="0"/>
              <a:t> IR observations showed </a:t>
            </a:r>
            <a:r>
              <a:rPr lang="en-IN" b="1" dirty="0"/>
              <a:t>stratospheric heating of ~10–15 K</a:t>
            </a:r>
            <a:r>
              <a:rPr lang="en-IN" dirty="0"/>
              <a:t> over background.</a:t>
            </a:r>
          </a:p>
          <a:p>
            <a:r>
              <a:rPr lang="en-IN" b="1" dirty="0"/>
              <a:t>Lifetime:</a:t>
            </a:r>
            <a:r>
              <a:rPr lang="en-IN" dirty="0"/>
              <a:t> aerosol clouds persisted </a:t>
            </a:r>
            <a:r>
              <a:rPr lang="en-IN" b="1" dirty="0"/>
              <a:t>months to years</a:t>
            </a:r>
            <a:r>
              <a:rPr lang="en-IN" dirty="0"/>
              <a:t>, constraining sedimentation rates.</a:t>
            </a:r>
          </a:p>
          <a:p>
            <a:r>
              <a:rPr lang="en-IN" b="1" dirty="0"/>
              <a:t>Dynamics:</a:t>
            </a:r>
            <a:r>
              <a:rPr lang="en-IN" dirty="0"/>
              <a:t> zonal drift of scars measured </a:t>
            </a:r>
            <a:r>
              <a:rPr lang="en-IN" b="1" dirty="0"/>
              <a:t>wind speeds ~100–150 m/s</a:t>
            </a:r>
            <a:r>
              <a:rPr lang="en-IN" dirty="0"/>
              <a:t>.</a:t>
            </a:r>
          </a:p>
          <a:p>
            <a:r>
              <a:rPr lang="en-IN" b="1" dirty="0"/>
              <a:t>Vertical mixing:</a:t>
            </a:r>
            <a:r>
              <a:rPr lang="en-IN" dirty="0"/>
              <a:t> slow decay implied </a:t>
            </a:r>
            <a:r>
              <a:rPr lang="en-IN" b="1" dirty="0"/>
              <a:t>weak downward mixing</a:t>
            </a:r>
            <a:r>
              <a:rPr lang="en-IN" dirty="0"/>
              <a:t> across the tropopause.</a:t>
            </a:r>
          </a:p>
          <a:p>
            <a:r>
              <a:rPr lang="en-IN" b="1" dirty="0"/>
              <a:t>Outcome:</a:t>
            </a:r>
            <a:r>
              <a:rPr lang="en-IN" dirty="0"/>
              <a:t> aerosols acted as tracers for </a:t>
            </a:r>
            <a:r>
              <a:rPr lang="en-IN" b="1" dirty="0"/>
              <a:t>radiative balance, chemistry, and circulation models</a:t>
            </a:r>
            <a:r>
              <a:rPr lang="en-IN" dirty="0"/>
              <a:t>.</a:t>
            </a:r>
          </a:p>
          <a:p>
            <a:endParaRPr lang="en-IN" dirty="0"/>
          </a:p>
        </p:txBody>
      </p:sp>
      <p:sp>
        <p:nvSpPr>
          <p:cNvPr id="4" name="Slide Number Placeholder 3"/>
          <p:cNvSpPr>
            <a:spLocks noGrp="1"/>
          </p:cNvSpPr>
          <p:nvPr>
            <p:ph type="sldNum" sz="quarter" idx="5"/>
          </p:nvPr>
        </p:nvSpPr>
        <p:spPr/>
        <p:txBody>
          <a:bodyPr/>
          <a:lstStyle/>
          <a:p>
            <a:fld id="{BD6647E6-4491-4109-8BE6-B03F9EC65F66}" type="slidenum">
              <a:rPr lang="en-IN" smtClean="0"/>
              <a:t>7</a:t>
            </a:fld>
            <a:endParaRPr lang="en-IN"/>
          </a:p>
        </p:txBody>
      </p:sp>
    </p:spTree>
    <p:extLst>
      <p:ext uri="{BB962C8B-B14F-4D97-AF65-F5344CB8AC3E}">
        <p14:creationId xmlns:p14="http://schemas.microsoft.com/office/powerpoint/2010/main" val="21709984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IN" dirty="0"/>
                  <a:t>SCALE HEIGHT: </a:t>
                </a:r>
                <a:r>
                  <a:rPr lang="en-US" dirty="0">
                    <a:effectLst/>
                  </a:rPr>
                  <a:t>Scale height </a:t>
                </a:r>
                <a:r>
                  <a:rPr lang="en-US" dirty="0"/>
                  <a:t>is the vertical distance over which an atmospheric quantity, such as pressure or density, decreases by a factor of </a:t>
                </a:r>
                <a14:m>
                  <m:oMath xmlns:m="http://schemas.openxmlformats.org/officeDocument/2006/math">
                    <m:r>
                      <a:rPr lang="en-US" sz="1300" i="1">
                        <a:latin typeface="Cambria Math" panose="02040503050406030204" pitchFamily="18" charset="0"/>
                      </a:rPr>
                      <m:t>𝑒</m:t>
                    </m:r>
                    <m:r>
                      <a:rPr lang="en-US" sz="1300">
                        <a:latin typeface="Cambria Math" panose="02040503050406030204" pitchFamily="18" charset="0"/>
                      </a:rPr>
                      <m:t>≈2.718</m:t>
                    </m:r>
                  </m:oMath>
                </a14:m>
                <a:r>
                  <a:rPr lang="en-US" dirty="0"/>
                  <a:t>. It describes how rapidly an atmosphere thins out, with Earth's pressure scale height being roughly 8.5 km. It depends on temperature, gravity, and molecular weight. </a:t>
                </a:r>
              </a:p>
              <a:p>
                <a:endParaRPr lang="en-US" dirty="0"/>
              </a:p>
              <a:p>
                <a:r>
                  <a:rPr lang="en-US" dirty="0"/>
                  <a:t>“Jupiter’s atmosphere is dominated by hydrogen and helium, with trace species such as methane, ammonia, and water shaping its chemistry and cloud structure. What we see in visible light—the familiar bands and zones—reflects strong east–west jet streams driven by rapid rotation rather than solar heating alone.</a:t>
                </a:r>
              </a:p>
              <a:p>
                <a:r>
                  <a:rPr lang="en-US" dirty="0"/>
                  <a:t>Observations from spacecraft and telescopes show that Jupiter’s atmosphere is highly dynamic and organized into alternating belts and zones with opposing wind directions, reaching speeds of several hundred kilometers per hour. The Great Red Spot, a long-lived anticyclonic storm, penetrates hundreds of kilometers below the cloud tops, indicating that atmospheric dynamics are not confined to a shallow weather layer.</a:t>
                </a:r>
              </a:p>
              <a:p>
                <a:r>
                  <a:rPr lang="en-US" dirty="0"/>
                  <a:t>Microwave and infrared measurements reveal that the atmosphere is not well mixed. Instead, there is significant vertical structure, with ammonia and other species varying with depth. This demonstrates strong coupling between the atmosphere and the deep interior, making Jupiter’s atmosphere an extension of the planet’s internal dynamics rather than a thin outer shell</a:t>
                </a:r>
              </a:p>
              <a:p>
                <a:endParaRPr lang="en-US" dirty="0"/>
              </a:p>
              <a:p>
                <a:r>
                  <a:rPr lang="en-US" dirty="0"/>
                  <a:t>The diagram shows how </a:t>
                </a:r>
                <a:r>
                  <a:rPr lang="en-US" b="1" dirty="0"/>
                  <a:t>temperature and composition change with altitude</a:t>
                </a:r>
                <a:r>
                  <a:rPr lang="en-US" dirty="0"/>
                  <a:t> in Jupiter’s atmosphere, extending from the upper stratosphere down into the deep troposphere.</a:t>
                </a:r>
              </a:p>
              <a:p>
                <a:r>
                  <a:rPr lang="en-US" dirty="0"/>
                  <a:t>The </a:t>
                </a:r>
                <a:r>
                  <a:rPr lang="en-US" b="1" dirty="0"/>
                  <a:t>blue curve</a:t>
                </a:r>
                <a:r>
                  <a:rPr lang="en-US" dirty="0"/>
                  <a:t> represents the </a:t>
                </a:r>
                <a:r>
                  <a:rPr lang="en-US" b="1" dirty="0"/>
                  <a:t>temperature profile</a:t>
                </a:r>
                <a:r>
                  <a:rPr lang="en-US" dirty="0"/>
                  <a:t>. Temperature decreases with altitude in the troposphere, reaches a minimum, and then increases again in the stratosphere due to absorption of solar radiation.</a:t>
                </a:r>
              </a:p>
              <a:p>
                <a:r>
                  <a:rPr lang="en-US" dirty="0"/>
                  <a:t>The </a:t>
                </a:r>
                <a:r>
                  <a:rPr lang="en-US" b="1" dirty="0"/>
                  <a:t>cloud layers</a:t>
                </a:r>
                <a:r>
                  <a:rPr lang="en-US" dirty="0"/>
                  <a:t> form where specific compounds </a:t>
                </a:r>
                <a:r>
                  <a:rPr lang="en-US" b="1" dirty="0"/>
                  <a:t>condense at particular pressures and temperatures</a:t>
                </a:r>
                <a:r>
                  <a:rPr lang="en-US" dirty="0"/>
                  <a:t>:</a:t>
                </a:r>
              </a:p>
              <a:p>
                <a:r>
                  <a:rPr lang="en-US" b="1" dirty="0"/>
                  <a:t>Ammonia ice (NH₃)</a:t>
                </a:r>
                <a:r>
                  <a:rPr lang="en-US" dirty="0"/>
                  <a:t> clouds form highest, at low pressures and cold temperatures.</a:t>
                </a:r>
              </a:p>
              <a:p>
                <a:r>
                  <a:rPr lang="en-US" b="1" dirty="0"/>
                  <a:t>Ammonium hydrosulfide (NH₄SH)</a:t>
                </a:r>
                <a:r>
                  <a:rPr lang="en-US" dirty="0"/>
                  <a:t> clouds form deeper, where temperatures are higher.</a:t>
                </a:r>
              </a:p>
              <a:p>
                <a:r>
                  <a:rPr lang="en-US" b="1" dirty="0"/>
                  <a:t>Water ice clouds</a:t>
                </a:r>
                <a:r>
                  <a:rPr lang="en-US" dirty="0"/>
                  <a:t> form much deeper, at pressures of several bars, marking the base of the visible weather layer.</a:t>
                </a:r>
              </a:p>
              <a:p>
                <a:r>
                  <a:rPr lang="en-US" dirty="0"/>
                  <a:t>Below the cloud decks, Jupiter’s atmosphere becomes a </a:t>
                </a:r>
                <a:r>
                  <a:rPr lang="en-US" b="1" dirty="0"/>
                  <a:t>hot, dense gaseous mixture</a:t>
                </a:r>
                <a:r>
                  <a:rPr lang="en-US" dirty="0"/>
                  <a:t> dominated by hydrogen and helium, with trace species such as methane, ammonia, and water vapor.</a:t>
                </a:r>
              </a:p>
              <a:p>
                <a:r>
                  <a:rPr lang="en-US" dirty="0"/>
                  <a:t>The </a:t>
                </a:r>
                <a:r>
                  <a:rPr lang="en-US" b="1" dirty="0"/>
                  <a:t>haze layer</a:t>
                </a:r>
                <a:r>
                  <a:rPr lang="en-US" dirty="0"/>
                  <a:t> above the main cloud tops consists of photochemically produced aerosols, which influence Jupiter’s color and radiative balance.</a:t>
                </a:r>
              </a:p>
              <a:p>
                <a:r>
                  <a:rPr lang="en-US" dirty="0"/>
                  <a:t>Unlike Earth, Jupiter has </a:t>
                </a:r>
                <a:r>
                  <a:rPr lang="en-US" b="1" dirty="0"/>
                  <a:t>no solid surface</a:t>
                </a:r>
                <a:r>
                  <a:rPr lang="en-US" dirty="0"/>
                  <a:t>—the atmosphere gradually transitions into the deep interior, making the weather layer directly coupled to internal heat transport</a:t>
                </a:r>
              </a:p>
              <a:p>
                <a:endParaRPr lang="en-US" dirty="0"/>
              </a:p>
              <a:p>
                <a:endParaRPr lang="en-IN" dirty="0"/>
              </a:p>
            </p:txBody>
          </p:sp>
        </mc:Choice>
        <mc:Fallback xmlns="">
          <p:sp>
            <p:nvSpPr>
              <p:cNvPr id="3" name="Notes Placeholder 2"/>
              <p:cNvSpPr>
                <a:spLocks noGrp="1"/>
              </p:cNvSpPr>
              <p:nvPr>
                <p:ph type="body" idx="1"/>
              </p:nvPr>
            </p:nvSpPr>
            <p:spPr/>
            <p:txBody>
              <a:bodyPr/>
              <a:lstStyle/>
              <a:p>
                <a:r>
                  <a:rPr lang="en-IN" dirty="0"/>
                  <a:t>SCALE HEIGHT: </a:t>
                </a:r>
                <a:r>
                  <a:rPr lang="en-US" dirty="0">
                    <a:effectLst/>
                  </a:rPr>
                  <a:t>Scale height </a:t>
                </a:r>
                <a:r>
                  <a:rPr lang="en-US" dirty="0"/>
                  <a:t>is the vertical distance over which an atmospheric quantity, such as pressure or density, decreases by a factor of </a:t>
                </a:r>
                <a:r>
                  <a:rPr lang="en-US" sz="1200" i="0" kern="1200">
                    <a:solidFill>
                      <a:schemeClr val="tx1"/>
                    </a:solidFill>
                    <a:latin typeface="+mn-lt"/>
                    <a:ea typeface="+mn-ea"/>
                    <a:cs typeface="+mn-cs"/>
                  </a:rPr>
                  <a:t>𝑒≈2.718</a:t>
                </a:r>
                <a:r>
                  <a:rPr lang="en-US" dirty="0"/>
                  <a:t>. It describes how rapidly an atmosphere thins out, with Earth's pressure scale height being roughly 8.5 km. It depends on temperature, gravity, and molecular weight. </a:t>
                </a:r>
                <a:endParaRPr lang="en-IN" dirty="0"/>
              </a:p>
            </p:txBody>
          </p:sp>
        </mc:Fallback>
      </mc:AlternateContent>
      <p:sp>
        <p:nvSpPr>
          <p:cNvPr id="4" name="Slide Number Placeholder 3"/>
          <p:cNvSpPr>
            <a:spLocks noGrp="1"/>
          </p:cNvSpPr>
          <p:nvPr>
            <p:ph type="sldNum" sz="quarter" idx="5"/>
          </p:nvPr>
        </p:nvSpPr>
        <p:spPr/>
        <p:txBody>
          <a:bodyPr/>
          <a:lstStyle/>
          <a:p>
            <a:fld id="{BD6647E6-4491-4109-8BE6-B03F9EC65F66}" type="slidenum">
              <a:rPr lang="en-IN" smtClean="0"/>
              <a:t>8</a:t>
            </a:fld>
            <a:endParaRPr lang="en-IN"/>
          </a:p>
        </p:txBody>
      </p:sp>
    </p:spTree>
    <p:extLst>
      <p:ext uri="{BB962C8B-B14F-4D97-AF65-F5344CB8AC3E}">
        <p14:creationId xmlns:p14="http://schemas.microsoft.com/office/powerpoint/2010/main" val="33024018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Great Red Spot</a:t>
            </a:r>
            <a:r>
              <a:rPr lang="en-US" dirty="0"/>
              <a:t> is a </a:t>
            </a:r>
            <a:r>
              <a:rPr lang="en-US" b="1" dirty="0"/>
              <a:t>long-lived anticyclonic vortex</a:t>
            </a:r>
            <a:r>
              <a:rPr lang="en-US" dirty="0"/>
              <a:t> on </a:t>
            </a:r>
            <a:r>
              <a:rPr lang="en-US" b="1" dirty="0"/>
              <a:t>Jupiter</a:t>
            </a:r>
            <a:r>
              <a:rPr lang="en-US" dirty="0"/>
              <a:t>, observed continuously for over </a:t>
            </a:r>
            <a:r>
              <a:rPr lang="en-US" b="1" dirty="0"/>
              <a:t>300 years</a:t>
            </a:r>
            <a:r>
              <a:rPr lang="en-US" dirty="0"/>
              <a:t>.</a:t>
            </a:r>
          </a:p>
          <a:p>
            <a:r>
              <a:rPr lang="en-US" dirty="0"/>
              <a:t>Wind speeds within the GRS reach </a:t>
            </a:r>
            <a:r>
              <a:rPr lang="en-US" b="1" dirty="0"/>
              <a:t>~120–150 m/s</a:t>
            </a:r>
            <a:r>
              <a:rPr lang="en-US" dirty="0"/>
              <a:t>, maintaining its counterclockwise rotation.</a:t>
            </a:r>
          </a:p>
          <a:p>
            <a:r>
              <a:rPr lang="en-US" dirty="0"/>
              <a:t>The storm’s horizontal extent is about </a:t>
            </a:r>
            <a:r>
              <a:rPr lang="en-US" b="1" dirty="0"/>
              <a:t>1.3–1.5 Earth diameters</a:t>
            </a:r>
            <a:r>
              <a:rPr lang="en-US" dirty="0"/>
              <a:t>, though observations show a </a:t>
            </a:r>
            <a:r>
              <a:rPr lang="en-US" b="1" dirty="0"/>
              <a:t>long-term shrinkage</a:t>
            </a:r>
            <a:r>
              <a:rPr lang="en-US" dirty="0"/>
              <a:t>.</a:t>
            </a:r>
          </a:p>
          <a:p>
            <a:r>
              <a:rPr lang="en-US" dirty="0"/>
              <a:t>Early models debated whether the GRS was shallow or deep; this was resolved by </a:t>
            </a:r>
            <a:r>
              <a:rPr lang="en-US" b="1" dirty="0"/>
              <a:t>Juno</a:t>
            </a:r>
            <a:r>
              <a:rPr lang="en-US" dirty="0"/>
              <a:t>.</a:t>
            </a:r>
          </a:p>
          <a:p>
            <a:r>
              <a:rPr lang="en-US" b="1" dirty="0"/>
              <a:t>Juno’s gravity measurements</a:t>
            </a:r>
            <a:r>
              <a:rPr lang="en-US" dirty="0"/>
              <a:t> detected localized anomalies as the spacecraft passed over the GRS.</a:t>
            </a:r>
          </a:p>
          <a:p>
            <a:r>
              <a:rPr lang="en-US" dirty="0"/>
              <a:t>These gravity signatures imply the vortex extends </a:t>
            </a:r>
            <a:r>
              <a:rPr lang="en-US" b="1" dirty="0"/>
              <a:t>~200–300 km below the visible cloud tops</a:t>
            </a:r>
            <a:r>
              <a:rPr lang="en-US" dirty="0"/>
              <a:t>.</a:t>
            </a:r>
          </a:p>
          <a:p>
            <a:r>
              <a:rPr lang="en-US" dirty="0"/>
              <a:t>This depth confirms the GRS is </a:t>
            </a:r>
            <a:r>
              <a:rPr lang="en-US" b="1" dirty="0"/>
              <a:t>embedded in the troposphere</a:t>
            </a:r>
            <a:r>
              <a:rPr lang="en-US" dirty="0"/>
              <a:t>, not a superficial weather feature.</a:t>
            </a:r>
          </a:p>
          <a:p>
            <a:r>
              <a:rPr lang="en-US" dirty="0"/>
              <a:t>The vortex is dynamically </a:t>
            </a:r>
            <a:r>
              <a:rPr lang="en-US" b="1" dirty="0"/>
              <a:t>coupled to surrounding jet streams</a:t>
            </a:r>
            <a:r>
              <a:rPr lang="en-US" dirty="0"/>
              <a:t>, which help stabilize it.</a:t>
            </a:r>
          </a:p>
          <a:p>
            <a:r>
              <a:rPr lang="en-US" dirty="0"/>
              <a:t>Jupiter’s </a:t>
            </a:r>
            <a:r>
              <a:rPr lang="en-US" b="1" dirty="0"/>
              <a:t>internal heat flux</a:t>
            </a:r>
            <a:r>
              <a:rPr lang="en-US" dirty="0"/>
              <a:t> supplies the energy maintaining the storm over centuries.</a:t>
            </a:r>
          </a:p>
          <a:p>
            <a:r>
              <a:rPr lang="en-US" dirty="0"/>
              <a:t>Overall, Juno established the GRS as a </a:t>
            </a:r>
            <a:r>
              <a:rPr lang="en-US" b="1" dirty="0"/>
              <a:t>deep, coherent atmospheric structure</a:t>
            </a:r>
            <a:r>
              <a:rPr lang="en-US" dirty="0"/>
              <a:t>, crucial for testing giant-planet fluid dynamics.</a:t>
            </a:r>
          </a:p>
          <a:p>
            <a:endParaRPr lang="en-IN" dirty="0"/>
          </a:p>
        </p:txBody>
      </p:sp>
      <p:sp>
        <p:nvSpPr>
          <p:cNvPr id="4" name="Slide Number Placeholder 3"/>
          <p:cNvSpPr>
            <a:spLocks noGrp="1"/>
          </p:cNvSpPr>
          <p:nvPr>
            <p:ph type="sldNum" sz="quarter" idx="5"/>
          </p:nvPr>
        </p:nvSpPr>
        <p:spPr/>
        <p:txBody>
          <a:bodyPr/>
          <a:lstStyle/>
          <a:p>
            <a:fld id="{BD6647E6-4491-4109-8BE6-B03F9EC65F66}" type="slidenum">
              <a:rPr lang="en-IN" smtClean="0"/>
              <a:t>9</a:t>
            </a:fld>
            <a:endParaRPr lang="en-IN"/>
          </a:p>
        </p:txBody>
      </p:sp>
    </p:spTree>
    <p:extLst>
      <p:ext uri="{BB962C8B-B14F-4D97-AF65-F5344CB8AC3E}">
        <p14:creationId xmlns:p14="http://schemas.microsoft.com/office/powerpoint/2010/main" val="9474079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a:t>Juno has transformed our understanding of Jupiter by directly linking observations to interior physics. Precise gravity harmonics revealed that Jupiter’s mass is not centrally condensed, making them crucial for inferring a </a:t>
            </a:r>
            <a:r>
              <a:rPr lang="en-US" b="1" dirty="0"/>
              <a:t>diluted, extended core</a:t>
            </a:r>
            <a:r>
              <a:rPr lang="en-US" dirty="0"/>
              <a:t> rather than a compact one. Odd gravity moments showed north–south asymmetry, which is relevant because it proves that </a:t>
            </a:r>
            <a:r>
              <a:rPr lang="en-US" b="1" dirty="0"/>
              <a:t>zonal winds penetrate thousands of kilometers</a:t>
            </a:r>
            <a:r>
              <a:rPr lang="en-US" dirty="0"/>
              <a:t>, coupling atmosphere and interior. Magnetic field measurements exposed strong non-dipolar structure, indicating that the </a:t>
            </a:r>
            <a:r>
              <a:rPr lang="en-US" b="1" dirty="0"/>
              <a:t>dynamo operates in a shallow, laterally heterogeneous metallic hydrogen layer</a:t>
            </a:r>
            <a:r>
              <a:rPr lang="en-US" dirty="0"/>
              <a:t>. The field’s intensity constrains electrical conductivity and therefore interior pressure–temperature conditions. Microwave radiometer data mapped deep ammonia plumes, demonstrating that </a:t>
            </a:r>
            <a:r>
              <a:rPr lang="en-US" b="1" dirty="0"/>
              <a:t>weather systems are not superficial</a:t>
            </a:r>
            <a:r>
              <a:rPr lang="en-US" dirty="0"/>
              <a:t>, but dynamically important at depth. Helium depletion in the atmosphere is relevant as it provides evidence for </a:t>
            </a:r>
            <a:r>
              <a:rPr lang="en-US" b="1" dirty="0"/>
              <a:t>helium rain</a:t>
            </a:r>
            <a:r>
              <a:rPr lang="en-US" dirty="0"/>
              <a:t>, a key internal heat source. Observed excess thermal emission confirms ongoing </a:t>
            </a:r>
            <a:r>
              <a:rPr lang="en-US" b="1" dirty="0"/>
              <a:t>gravitational contraction</a:t>
            </a:r>
            <a:r>
              <a:rPr lang="en-US" dirty="0"/>
              <a:t>. Polar cyclone stability reveals the dominance of </a:t>
            </a:r>
            <a:r>
              <a:rPr lang="en-US" b="1" dirty="0"/>
              <a:t>rapid rotation and deep vortical dynamics</a:t>
            </a:r>
            <a:r>
              <a:rPr lang="en-US" dirty="0"/>
              <a:t>. Finally, intense aurorae link Jupiter’s interior-generated magnetic field to its vast magnetosphere, closing the observational chain from </a:t>
            </a:r>
            <a:r>
              <a:rPr lang="en-US" b="1" dirty="0"/>
              <a:t>core to space environment</a:t>
            </a:r>
            <a:r>
              <a:rPr lang="en-US" dirty="0"/>
              <a:t>.</a:t>
            </a:r>
          </a:p>
          <a:p>
            <a:pPr defTabSz="966612">
              <a:defRPr/>
            </a:pPr>
            <a:endParaRPr lang="en-US" dirty="0"/>
          </a:p>
          <a:p>
            <a:r>
              <a:rPr lang="en-US" dirty="0"/>
              <a:t>This figure shows what </a:t>
            </a:r>
            <a:r>
              <a:rPr lang="en-US" b="1" dirty="0"/>
              <a:t>Juno measures as it flies through Jupiter’s polar auroral region</a:t>
            </a:r>
            <a:r>
              <a:rPr lang="en-US" dirty="0"/>
              <a:t>.</a:t>
            </a:r>
          </a:p>
          <a:p>
            <a:r>
              <a:rPr lang="en-US" dirty="0"/>
              <a:t>Changes in the magnetic field mark </a:t>
            </a:r>
            <a:r>
              <a:rPr lang="en-US" b="1" dirty="0"/>
              <a:t>boundaries and cusp regions</a:t>
            </a:r>
            <a:r>
              <a:rPr lang="en-US" dirty="0"/>
              <a:t> in Jupiter’s magnetosphere.</a:t>
            </a:r>
          </a:p>
          <a:p>
            <a:r>
              <a:rPr lang="en-US" dirty="0"/>
              <a:t>Bright bands in the particle panels show </a:t>
            </a:r>
            <a:r>
              <a:rPr lang="en-US" b="1" dirty="0"/>
              <a:t>bursts of energetic electrons, protons, and heavy ions</a:t>
            </a:r>
            <a:r>
              <a:rPr lang="en-US" dirty="0"/>
              <a:t> entering along magnetic field lines.</a:t>
            </a:r>
          </a:p>
          <a:p>
            <a:r>
              <a:rPr lang="en-US" dirty="0"/>
              <a:t>The directional motion of particles and associated plasma waves indicate </a:t>
            </a:r>
            <a:r>
              <a:rPr lang="en-US" b="1" dirty="0"/>
              <a:t>active acceleration processes</a:t>
            </a:r>
            <a:r>
              <a:rPr lang="en-US" dirty="0"/>
              <a:t>.</a:t>
            </a:r>
          </a:p>
          <a:p>
            <a:r>
              <a:rPr lang="en-US" dirty="0"/>
              <a:t>Together, these observations show how </a:t>
            </a:r>
            <a:r>
              <a:rPr lang="en-US" b="1" dirty="0"/>
              <a:t>Jupiter’s magnetosphere channels energy to power its intense auroras</a:t>
            </a:r>
            <a:r>
              <a:rPr lang="en-US" dirty="0"/>
              <a:t>.</a:t>
            </a:r>
          </a:p>
          <a:p>
            <a:endParaRPr lang="en-US" dirty="0"/>
          </a:p>
          <a:p>
            <a:r>
              <a:rPr lang="en-IN" dirty="0"/>
              <a:t>This plot shows </a:t>
            </a:r>
            <a:r>
              <a:rPr lang="en-IN" b="1" dirty="0"/>
              <a:t>electric field waves measured by Juno</a:t>
            </a:r>
            <a:r>
              <a:rPr lang="en-IN" dirty="0"/>
              <a:t> as it travels through </a:t>
            </a:r>
            <a:r>
              <a:rPr lang="en-IN" b="1" dirty="0"/>
              <a:t>Jupiter’s magnetosphere</a:t>
            </a:r>
            <a:r>
              <a:rPr lang="en-IN" dirty="0"/>
              <a:t>.</a:t>
            </a:r>
          </a:p>
          <a:p>
            <a:r>
              <a:rPr lang="en-IN" dirty="0"/>
              <a:t>The sudden change marked “</a:t>
            </a:r>
            <a:r>
              <a:rPr lang="en-IN" b="1" dirty="0"/>
              <a:t>magnetopause</a:t>
            </a:r>
            <a:r>
              <a:rPr lang="en-IN" dirty="0"/>
              <a:t>” indicates where Juno crosses from the solar wind into Jupiter’s magnetic domain.</a:t>
            </a:r>
          </a:p>
          <a:p>
            <a:r>
              <a:rPr lang="en-IN" dirty="0"/>
              <a:t>Bright </a:t>
            </a:r>
            <a:r>
              <a:rPr lang="en-IN" dirty="0" err="1"/>
              <a:t>colors</a:t>
            </a:r>
            <a:r>
              <a:rPr lang="en-IN" dirty="0"/>
              <a:t> at kilohertz frequencies represent </a:t>
            </a:r>
            <a:r>
              <a:rPr lang="en-IN" b="1" dirty="0"/>
              <a:t>strong plasma wave activity</a:t>
            </a:r>
            <a:r>
              <a:rPr lang="en-IN" dirty="0"/>
              <a:t>.</a:t>
            </a:r>
          </a:p>
          <a:p>
            <a:r>
              <a:rPr lang="en-IN" dirty="0"/>
              <a:t>The </a:t>
            </a:r>
            <a:r>
              <a:rPr lang="en-IN" dirty="0" err="1"/>
              <a:t>labeled</a:t>
            </a:r>
            <a:r>
              <a:rPr lang="en-IN" dirty="0"/>
              <a:t> </a:t>
            </a:r>
            <a:r>
              <a:rPr lang="en-IN" b="1" dirty="0"/>
              <a:t>trapped continuum radiation</a:t>
            </a:r>
            <a:r>
              <a:rPr lang="en-IN" dirty="0"/>
              <a:t> comes from energetic electrons confined by Jupiter’s magnetic field.</a:t>
            </a:r>
          </a:p>
          <a:p>
            <a:endParaRPr lang="en-US" dirty="0"/>
          </a:p>
          <a:p>
            <a:r>
              <a:rPr lang="en-US" dirty="0"/>
              <a:t>This figure shows how Jupiter’s gravity slightly changes as the Juno spacecraft flies very close to the planet. Juno’s radio signal is extremely sensitive, so even tiny changes in Jupiter’s gravity cause small changes in the spacecraft’s speed.</a:t>
            </a:r>
          </a:p>
          <a:p>
            <a:r>
              <a:rPr lang="en-US" dirty="0"/>
              <a:t>In the top panels, we see clear, repeating patterns during different close passes. These patterns tell us that Jupiter’s mass is not arranged perfectly symmetrically. Instead, large-scale winds inside the planet—similar to the bands we see on the surface—shift mass around and change the gravity field.</a:t>
            </a:r>
          </a:p>
          <a:p>
            <a:r>
              <a:rPr lang="en-US" dirty="0"/>
              <a:t>In the bottom panels, those patterns disappear. This tells us that other effects, like global vibrations of the planet, are much weaker and do not significantly affect the gravity signal.</a:t>
            </a:r>
          </a:p>
          <a:p>
            <a:r>
              <a:rPr lang="en-US" dirty="0"/>
              <a:t>The key takeaway is that Jupiter’s visible winds are not just surface-level weather. They extend deep into the planet and are strong enough to measurably affect its gravity.</a:t>
            </a:r>
          </a:p>
          <a:p>
            <a:endParaRPr lang="en-US" dirty="0"/>
          </a:p>
          <a:p>
            <a:endParaRPr lang="en-US" dirty="0"/>
          </a:p>
          <a:p>
            <a:pPr defTabSz="966612">
              <a:defRPr/>
            </a:pPr>
            <a:endParaRPr lang="en-US" dirty="0"/>
          </a:p>
          <a:p>
            <a:endParaRPr lang="en-IN" dirty="0"/>
          </a:p>
        </p:txBody>
      </p:sp>
      <p:sp>
        <p:nvSpPr>
          <p:cNvPr id="4" name="Slide Number Placeholder 3"/>
          <p:cNvSpPr>
            <a:spLocks noGrp="1"/>
          </p:cNvSpPr>
          <p:nvPr>
            <p:ph type="sldNum" sz="quarter" idx="5"/>
          </p:nvPr>
        </p:nvSpPr>
        <p:spPr/>
        <p:txBody>
          <a:bodyPr/>
          <a:lstStyle/>
          <a:p>
            <a:fld id="{BD6647E6-4491-4109-8BE6-B03F9EC65F66}" type="slidenum">
              <a:rPr lang="en-IN" smtClean="0"/>
              <a:t>10</a:t>
            </a:fld>
            <a:endParaRPr lang="en-IN"/>
          </a:p>
        </p:txBody>
      </p:sp>
    </p:spTree>
    <p:extLst>
      <p:ext uri="{BB962C8B-B14F-4D97-AF65-F5344CB8AC3E}">
        <p14:creationId xmlns:p14="http://schemas.microsoft.com/office/powerpoint/2010/main" val="11495906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a:t>Jupiter does not have a solid, Earth-like core; instead, pressure and density increase continuously inward, so the core cannot be defined by a physical surface. Gravity measurements from </a:t>
            </a:r>
            <a:r>
              <a:rPr lang="en-US" b="1" dirty="0"/>
              <a:t>Juno</a:t>
            </a:r>
            <a:r>
              <a:rPr lang="en-US" dirty="0"/>
              <a:t> show that a compact core cannot reproduce the observed gravitational field, leading to the concept of a diluted or “fuzzy” core. In this model, heavy elements are mixed deep into the hydrogen–helium envelope rather than confined to the center. Interior models indicate that these heavy elements extend across roughly 30 to 50 percent of Jupiter’s radius. The total mass of heavy elements is estimated to be around 10 to 20 Earth masses, supporting formation by core accretion. Importantly, the core is defined by enhanced metallicity, not by a solid phase. Hydrogen and helium remain dominant even in the deepest regions. At extreme pressures, core materials such as ices and silicates can dissolve into metallic hydrogen. This creates compositional gradients that suppress large-scale convection. Early mixing and giant impacts likely transformed an initially compact core into the extended structure observed today.</a:t>
            </a:r>
          </a:p>
          <a:p>
            <a:endParaRPr lang="en-IN" dirty="0"/>
          </a:p>
        </p:txBody>
      </p:sp>
      <p:sp>
        <p:nvSpPr>
          <p:cNvPr id="4" name="Slide Number Placeholder 3"/>
          <p:cNvSpPr>
            <a:spLocks noGrp="1"/>
          </p:cNvSpPr>
          <p:nvPr>
            <p:ph type="sldNum" sz="quarter" idx="5"/>
          </p:nvPr>
        </p:nvSpPr>
        <p:spPr/>
        <p:txBody>
          <a:bodyPr/>
          <a:lstStyle/>
          <a:p>
            <a:fld id="{BD6647E6-4491-4109-8BE6-B03F9EC65F66}" type="slidenum">
              <a:rPr lang="en-IN" smtClean="0"/>
              <a:t>11</a:t>
            </a:fld>
            <a:endParaRPr lang="en-IN"/>
          </a:p>
        </p:txBody>
      </p:sp>
    </p:spTree>
    <p:extLst>
      <p:ext uri="{BB962C8B-B14F-4D97-AF65-F5344CB8AC3E}">
        <p14:creationId xmlns:p14="http://schemas.microsoft.com/office/powerpoint/2010/main" val="19591699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want to know what’s inside Jupiter, we just listen to the magnetosphere rant.</a:t>
            </a:r>
          </a:p>
          <a:p>
            <a:endParaRPr lang="en-US" dirty="0"/>
          </a:p>
          <a:p>
            <a:r>
              <a:rPr lang="en-US" dirty="0"/>
              <a:t>Jupiter has the strongest planetary magnetic field in the Solar System, reaching about ten to fourteen gauss near the poles. This field is generated by a powerful dynamo operating in the planet’s deep interior, where hydrogen becomes metallic and electrically conducting under extreme pressures.</a:t>
            </a:r>
          </a:p>
          <a:p>
            <a:r>
              <a:rPr lang="en-US" dirty="0"/>
              <a:t>Observations show that the field is highly asymmetric and significantly non-dipolar, with the magnetic axis tilted by roughly ten degrees relative to the rotation axis. Unlike Earth, Jupiter’s magnetosphere is dominated by the planet’s rapid rotation rather than by the solar wind.</a:t>
            </a:r>
          </a:p>
          <a:p>
            <a:r>
              <a:rPr lang="en-US" dirty="0"/>
              <a:t>A key feature is the continuous plasma supply from Io, which forms a dense plasma torus and strongly shapes magnetospheric dynamics. These processes drive intense ultraviolet, infrared, and radio auroras, and create extreme radiation belts. Overall, Jupiter’s magnetic field provides direct constraints on the depth, structure, and dynamics of its interior dynamo.</a:t>
            </a:r>
          </a:p>
          <a:p>
            <a:endParaRPr lang="en-US" dirty="0"/>
          </a:p>
          <a:p>
            <a:r>
              <a:rPr lang="en-US" b="1" dirty="0"/>
              <a:t>Top panels (a &amp; b): Magnetic field</a:t>
            </a:r>
            <a:br>
              <a:rPr lang="en-US" dirty="0"/>
            </a:br>
            <a:r>
              <a:rPr lang="en-US" dirty="0"/>
              <a:t>The magnetic field direction and strength change noticeably in the </a:t>
            </a:r>
            <a:r>
              <a:rPr lang="en-US" b="1" dirty="0"/>
              <a:t>red-shaded region</a:t>
            </a:r>
            <a:r>
              <a:rPr lang="en-US" dirty="0"/>
              <a:t>, indicating the spacecraft entered a </a:t>
            </a:r>
            <a:r>
              <a:rPr lang="en-US" b="1" dirty="0"/>
              <a:t>distinct magnetic structure</a:t>
            </a:r>
            <a:r>
              <a:rPr lang="en-US" dirty="0"/>
              <a:t>, not background plasma.</a:t>
            </a:r>
          </a:p>
          <a:p>
            <a:r>
              <a:rPr lang="en-US" b="1" dirty="0"/>
              <a:t>Middle panel (c): Plasma velocity</a:t>
            </a:r>
            <a:br>
              <a:rPr lang="en-US" dirty="0"/>
            </a:br>
            <a:r>
              <a:rPr lang="en-US" dirty="0"/>
              <a:t>The plasma suddenly speeds up and changes direction in the green-shaded regions, revealing </a:t>
            </a:r>
            <a:r>
              <a:rPr lang="en-US" b="1" dirty="0"/>
              <a:t>fast plasma jets</a:t>
            </a:r>
            <a:r>
              <a:rPr lang="en-US" dirty="0"/>
              <a:t> moving through the magnetosphere.</a:t>
            </a:r>
          </a:p>
          <a:p>
            <a:r>
              <a:rPr lang="en-US" b="1" dirty="0"/>
              <a:t>Panels (d &amp; e): Density and temperature</a:t>
            </a:r>
            <a:br>
              <a:rPr lang="en-US" dirty="0"/>
            </a:br>
            <a:r>
              <a:rPr lang="en-US" dirty="0"/>
              <a:t>In the red region, particle </a:t>
            </a:r>
            <a:r>
              <a:rPr lang="en-US" b="1" dirty="0"/>
              <a:t>temperature rises sharply while density drops</a:t>
            </a:r>
            <a:r>
              <a:rPr lang="en-US" dirty="0"/>
              <a:t>, a classic signature of </a:t>
            </a:r>
            <a:r>
              <a:rPr lang="en-US" b="1" dirty="0"/>
              <a:t>strong plasma heating</a:t>
            </a:r>
            <a:r>
              <a:rPr lang="en-US" dirty="0"/>
              <a:t>.</a:t>
            </a:r>
          </a:p>
          <a:p>
            <a:r>
              <a:rPr lang="en-US" b="1" dirty="0"/>
              <a:t>Bottom panel (f): Dynamic pressure</a:t>
            </a:r>
            <a:br>
              <a:rPr lang="en-US" dirty="0"/>
            </a:br>
            <a:r>
              <a:rPr lang="en-US" dirty="0" err="1"/>
              <a:t>Pressure</a:t>
            </a:r>
            <a:r>
              <a:rPr lang="en-US" dirty="0"/>
              <a:t> decreases in the red region and increases in the green regions, confirming the presence of </a:t>
            </a:r>
            <a:r>
              <a:rPr lang="en-US" b="1" dirty="0"/>
              <a:t>energetic jets surrounding a hot core</a:t>
            </a:r>
            <a:r>
              <a:rPr lang="en-US" dirty="0"/>
              <a:t>.</a:t>
            </a:r>
          </a:p>
          <a:p>
            <a:r>
              <a:rPr lang="en-US" b="1" dirty="0"/>
              <a:t>Color coding meaning</a:t>
            </a:r>
            <a:endParaRPr lang="en-US" dirty="0"/>
          </a:p>
          <a:p>
            <a:r>
              <a:rPr lang="en-US" b="1" dirty="0"/>
              <a:t>Red (HFA core)</a:t>
            </a:r>
            <a:r>
              <a:rPr lang="en-US" dirty="0"/>
              <a:t>: hot, low-density, highly disturbed plasma</a:t>
            </a:r>
          </a:p>
          <a:p>
            <a:r>
              <a:rPr lang="en-US" b="1" dirty="0"/>
              <a:t>Green (jet)</a:t>
            </a:r>
            <a:r>
              <a:rPr lang="en-US" dirty="0"/>
              <a:t>: fast, compressed plasma flows</a:t>
            </a:r>
          </a:p>
          <a:p>
            <a:endParaRPr lang="en-US" dirty="0"/>
          </a:p>
          <a:p>
            <a:endParaRPr lang="en-IN" dirty="0"/>
          </a:p>
        </p:txBody>
      </p:sp>
      <p:sp>
        <p:nvSpPr>
          <p:cNvPr id="4" name="Slide Number Placeholder 3"/>
          <p:cNvSpPr>
            <a:spLocks noGrp="1"/>
          </p:cNvSpPr>
          <p:nvPr>
            <p:ph type="sldNum" sz="quarter" idx="5"/>
          </p:nvPr>
        </p:nvSpPr>
        <p:spPr/>
        <p:txBody>
          <a:bodyPr/>
          <a:lstStyle/>
          <a:p>
            <a:fld id="{BD6647E6-4491-4109-8BE6-B03F9EC65F66}" type="slidenum">
              <a:rPr lang="en-IN" smtClean="0"/>
              <a:t>12</a:t>
            </a:fld>
            <a:endParaRPr lang="en-IN"/>
          </a:p>
        </p:txBody>
      </p:sp>
    </p:spTree>
    <p:extLst>
      <p:ext uri="{BB962C8B-B14F-4D97-AF65-F5344CB8AC3E}">
        <p14:creationId xmlns:p14="http://schemas.microsoft.com/office/powerpoint/2010/main" val="18249392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possible mechanism for Jupiter’s fuzzy core is a late giant impact during its formation. After Jupiter had already formed a substantial solid core and begun runaway gas accretion, dynamical models allow for collisions with large planetary embryos, potentially Earth-mass or larger.</a:t>
            </a:r>
          </a:p>
          <a:p>
            <a:r>
              <a:rPr lang="en-US" dirty="0"/>
              <a:t>Such an impact would not simply add material to the core. Instead, the enormous impact energy would mechanically disrupt the original compact core, breaking it apart and injecting heavy elements into the surrounding deep envelope. At the same time, the associated heating would increase the solubility of heavy elements in hydrogen–helium, especially under the extreme pressures where hydrogen becomes metallic.</a:t>
            </a:r>
          </a:p>
          <a:p>
            <a:r>
              <a:rPr lang="en-US" dirty="0"/>
              <a:t>Following the impact, strong deep convection would redistribute this material over a large radial extent, preventing the heavy elements from re-settling into a sharp core. The result is a smooth heavy-element gradient rather than a distinct core–envelope boundary. Importantly, this structure is consistent with gravity measurements of </a:t>
            </a:r>
            <a:r>
              <a:rPr lang="en-US" b="1" dirty="0"/>
              <a:t>Jupiter</a:t>
            </a:r>
            <a:r>
              <a:rPr lang="en-US" dirty="0"/>
              <a:t>, which require an extended region enriched in heavy elements.</a:t>
            </a:r>
          </a:p>
          <a:p>
            <a:r>
              <a:rPr lang="en-US" dirty="0"/>
              <a:t>While a collision is not strictly required, it provides a natural explanation for the degree of core dilution inferred from observations.”</a:t>
            </a:r>
          </a:p>
          <a:p>
            <a:endParaRPr lang="en-IN" dirty="0"/>
          </a:p>
        </p:txBody>
      </p:sp>
      <p:sp>
        <p:nvSpPr>
          <p:cNvPr id="4" name="Slide Number Placeholder 3"/>
          <p:cNvSpPr>
            <a:spLocks noGrp="1"/>
          </p:cNvSpPr>
          <p:nvPr>
            <p:ph type="sldNum" sz="quarter" idx="5"/>
          </p:nvPr>
        </p:nvSpPr>
        <p:spPr/>
        <p:txBody>
          <a:bodyPr/>
          <a:lstStyle/>
          <a:p>
            <a:fld id="{BD6647E6-4491-4109-8BE6-B03F9EC65F66}" type="slidenum">
              <a:rPr lang="en-IN" smtClean="0"/>
              <a:t>13</a:t>
            </a:fld>
            <a:endParaRPr lang="en-IN"/>
          </a:p>
        </p:txBody>
      </p:sp>
    </p:spTree>
    <p:extLst>
      <p:ext uri="{BB962C8B-B14F-4D97-AF65-F5344CB8AC3E}">
        <p14:creationId xmlns:p14="http://schemas.microsoft.com/office/powerpoint/2010/main" val="26674423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Galilean moons show a systematic set of observations that directly link their physical states to Jupiter’s gravitational influence. The Laplace resonance among Io, Europa, and Ganymede maintains orbital eccentricities, which leads to sustained tidal heating across the system. This tidal dissipation explains Io’s extreme volcanism, which is far too energetic to be powered by radiogenic heat alone.</a:t>
            </a:r>
          </a:p>
          <a:p>
            <a:r>
              <a:rPr lang="en-US" dirty="0"/>
              <a:t>Europa’s young, fractured surface and low crater density indicate ongoing resurfacing. Magnetic induction measurements imply a conductive layer beneath the ice shell, strongly supporting the presence of a global subsurface liquid water ocean. In Ganymede’s case, the detection of an intrinsic magnetic field requires a differentiated interior with a liquid metallic core capable of sustaining a dynamo.</a:t>
            </a:r>
          </a:p>
          <a:p>
            <a:r>
              <a:rPr lang="en-US" dirty="0"/>
              <a:t>Moving outward, the reduction in tidal forcing explains why Callisto lacks extensive internal differentiation and retains a heavily cratered, ancient surface. The observed compositional gradient—from rocky Io to ice-rich Callisto—indicates formation within a </a:t>
            </a:r>
            <a:r>
              <a:rPr lang="en-US" dirty="0" err="1"/>
              <a:t>circumjovian</a:t>
            </a:r>
            <a:r>
              <a:rPr lang="en-US" dirty="0"/>
              <a:t> disk, where temperature and material availability varied with distance from Jupiter.</a:t>
            </a:r>
          </a:p>
          <a:p>
            <a:r>
              <a:rPr lang="en-US" dirty="0"/>
              <a:t>Overall, these observations show that Jupiter acts as a long-term internal energy source for its moons, controlling their thermal evolution, geological activity, and, in the case of Europa, potentially creating environments favorable for habitability.</a:t>
            </a:r>
          </a:p>
          <a:p>
            <a:endParaRPr lang="en-IN" dirty="0"/>
          </a:p>
        </p:txBody>
      </p:sp>
      <p:sp>
        <p:nvSpPr>
          <p:cNvPr id="4" name="Slide Number Placeholder 3"/>
          <p:cNvSpPr>
            <a:spLocks noGrp="1"/>
          </p:cNvSpPr>
          <p:nvPr>
            <p:ph type="sldNum" sz="quarter" idx="5"/>
          </p:nvPr>
        </p:nvSpPr>
        <p:spPr/>
        <p:txBody>
          <a:bodyPr/>
          <a:lstStyle/>
          <a:p>
            <a:fld id="{BD6647E6-4491-4109-8BE6-B03F9EC65F66}" type="slidenum">
              <a:rPr lang="en-IN" smtClean="0"/>
              <a:t>14</a:t>
            </a:fld>
            <a:endParaRPr lang="en-IN"/>
          </a:p>
        </p:txBody>
      </p:sp>
    </p:spTree>
    <p:extLst>
      <p:ext uri="{BB962C8B-B14F-4D97-AF65-F5344CB8AC3E}">
        <p14:creationId xmlns:p14="http://schemas.microsoft.com/office/powerpoint/2010/main" val="37740231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Jupiter’s ring system is very different from Saturn’s. Observations show that it is faint and dominated by micron-sized dust rather than large icy particles. The short lifetimes of these grains imply continuous replenishment, which we infer comes from micrometeoroid impacts on small inner moons such as Metis and Adrastea.</a:t>
            </a:r>
          </a:p>
          <a:p>
            <a:r>
              <a:rPr lang="en-US" dirty="0"/>
              <a:t>The inner moon system, including the Amalthea group, orbits deep within Jupiter’s intense radiation environment, indicating that these bodies are likely rubble-pile or structurally weak objects rather than fully differentiated moons. Beyond the Galilean satellites, Jupiter hosts dozens of small irregular moons on highly inclined and often retrograde orbits. Their orbital properties strongly suggest capture rather than in-situ formation.</a:t>
            </a:r>
          </a:p>
          <a:p>
            <a:pPr defTabSz="966612">
              <a:defRPr/>
            </a:pPr>
            <a:r>
              <a:rPr lang="en-US" dirty="0"/>
              <a:t>Together, the rings and minor moons provide insight into ongoing collisional and capture processes operating in the Jovian environment.</a:t>
            </a:r>
          </a:p>
          <a:p>
            <a:endParaRPr lang="en-IN" dirty="0"/>
          </a:p>
        </p:txBody>
      </p:sp>
      <p:sp>
        <p:nvSpPr>
          <p:cNvPr id="4" name="Slide Number Placeholder 3"/>
          <p:cNvSpPr>
            <a:spLocks noGrp="1"/>
          </p:cNvSpPr>
          <p:nvPr>
            <p:ph type="sldNum" sz="quarter" idx="5"/>
          </p:nvPr>
        </p:nvSpPr>
        <p:spPr/>
        <p:txBody>
          <a:bodyPr/>
          <a:lstStyle/>
          <a:p>
            <a:fld id="{BD6647E6-4491-4109-8BE6-B03F9EC65F66}" type="slidenum">
              <a:rPr lang="en-IN" smtClean="0"/>
              <a:t>15</a:t>
            </a:fld>
            <a:endParaRPr lang="en-IN"/>
          </a:p>
        </p:txBody>
      </p:sp>
    </p:spTree>
    <p:extLst>
      <p:ext uri="{BB962C8B-B14F-4D97-AF65-F5344CB8AC3E}">
        <p14:creationId xmlns:p14="http://schemas.microsoft.com/office/powerpoint/2010/main" val="36680159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Jupiter Trojans span a remarkably wide range of sizes, from bodies only about a kilometer across to objects exceeding two hundred kilometers in diameter. The largest members, such as Hektor and Patroclus, are comparable in size to mid-sized main-belt asteroids and show complex shapes, including bilobed and binary structures.</a:t>
            </a:r>
          </a:p>
          <a:p>
            <a:r>
              <a:rPr lang="en-US" dirty="0"/>
              <a:t>However, the population is numerically dominated by much smaller objects, typically below ten kilometers. This steep size–frequency distribution indicates that the Trojan population has undergone significant collisional evolution over billions of years, fragmenting larger bodies into smaller ones.</a:t>
            </a:r>
          </a:p>
          <a:p>
            <a:r>
              <a:rPr lang="en-US" dirty="0"/>
              <a:t>The coexistence of very large primordial objects with abundant small fragments suggests that the Trojans are not a recently formed population, but instead preserve material captured early in Solar System history. Their size distribution therefore provides key constraints on both their origin and the long-term dynamical and collisional environment near Jupiter’s orbit.</a:t>
            </a:r>
          </a:p>
          <a:p>
            <a:endParaRPr lang="en-IN" dirty="0"/>
          </a:p>
        </p:txBody>
      </p:sp>
      <p:sp>
        <p:nvSpPr>
          <p:cNvPr id="4" name="Slide Number Placeholder 3"/>
          <p:cNvSpPr>
            <a:spLocks noGrp="1"/>
          </p:cNvSpPr>
          <p:nvPr>
            <p:ph type="sldNum" sz="quarter" idx="5"/>
          </p:nvPr>
        </p:nvSpPr>
        <p:spPr/>
        <p:txBody>
          <a:bodyPr/>
          <a:lstStyle/>
          <a:p>
            <a:fld id="{BD6647E6-4491-4109-8BE6-B03F9EC65F66}" type="slidenum">
              <a:rPr lang="en-IN" smtClean="0"/>
              <a:t>16</a:t>
            </a:fld>
            <a:endParaRPr lang="en-IN"/>
          </a:p>
        </p:txBody>
      </p:sp>
    </p:spTree>
    <p:extLst>
      <p:ext uri="{BB962C8B-B14F-4D97-AF65-F5344CB8AC3E}">
        <p14:creationId xmlns:p14="http://schemas.microsoft.com/office/powerpoint/2010/main" val="16735848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Jupiter’s influence on the Solar System begins very early, with its rapid growth making it the dominant dynamical agent among the planets. This early mass buildup profoundly altered the surrounding planetesimal disk, particularly in the region that is now the asteroid belt, where Jupiter’s gravitational perturbations inhibited the formation of a terrestrial planet.</a:t>
            </a:r>
          </a:p>
          <a:p>
            <a:r>
              <a:rPr lang="en-US" dirty="0"/>
              <a:t>As Jupiter evolved, its resonances redistributed small bodies, exciting their orbits and driving large-scale rearrangements. Models of Jupiter’s migration suggest that even modest radial movement could have restructured the inner Solar System, influencing the final masses and spacing of the terrestrial planets.</a:t>
            </a:r>
          </a:p>
          <a:p>
            <a:r>
              <a:rPr lang="en-US" dirty="0"/>
              <a:t>Jupiter also established long-term stable regions, such as the L4 and L5 Lagrange points, allowing Trojan populations to persist over billions of years. At the same time, repeated gravitational encounters with Jupiter redirected or removed comets and planetesimals, thereby modulating impact rates on the inner planets.</a:t>
            </a:r>
          </a:p>
          <a:p>
            <a:r>
              <a:rPr lang="en-US" dirty="0"/>
              <a:t>Overall, Jupiter does not simply stabilize the Solar System; it selectively stabilizes some regions while destabilizing others. In this sense, Jupiter acts as both an architect and a gatekeeper, shaping the Solar System’s final structure and evolution.</a:t>
            </a:r>
          </a:p>
          <a:p>
            <a:endParaRPr lang="en-IN" dirty="0"/>
          </a:p>
        </p:txBody>
      </p:sp>
      <p:sp>
        <p:nvSpPr>
          <p:cNvPr id="4" name="Slide Number Placeholder 3"/>
          <p:cNvSpPr>
            <a:spLocks noGrp="1"/>
          </p:cNvSpPr>
          <p:nvPr>
            <p:ph type="sldNum" sz="quarter" idx="5"/>
          </p:nvPr>
        </p:nvSpPr>
        <p:spPr/>
        <p:txBody>
          <a:bodyPr/>
          <a:lstStyle/>
          <a:p>
            <a:fld id="{BD6647E6-4491-4109-8BE6-B03F9EC65F66}" type="slidenum">
              <a:rPr lang="en-IN" smtClean="0"/>
              <a:t>17</a:t>
            </a:fld>
            <a:endParaRPr lang="en-IN"/>
          </a:p>
        </p:txBody>
      </p:sp>
    </p:spTree>
    <p:extLst>
      <p:ext uri="{BB962C8B-B14F-4D97-AF65-F5344CB8AC3E}">
        <p14:creationId xmlns:p14="http://schemas.microsoft.com/office/powerpoint/2010/main" val="23088484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Jupiter’s deep interior, pressures and temperatures become so extreme that hydrogen enters a metallic, electrically conducting state. Under these conditions, helium is no longer fully miscible in hydrogen. Instead, it separates out and condenses into helium-rich droplets, a process referred to as helium rain.</a:t>
            </a:r>
          </a:p>
          <a:p>
            <a:r>
              <a:rPr lang="en-US" dirty="0"/>
              <a:t>These droplets are denser than the surrounding fluid and therefore sink deeper into the planet under gravity. As they fall, they release gravitational potential energy, which is converted into heat and contributes to Jupiter’s internal energy output. This process provides a natural explanation for the helium depletion observed in Jupiter’s upper atmosphere by the Galileo probe.</a:t>
            </a:r>
          </a:p>
          <a:p>
            <a:r>
              <a:rPr lang="en-US" dirty="0"/>
              <a:t>Beyond composition, helium rain has important implications for Jupiter’s thermal evolution. It modifies how heat is transported inside the planet and affects long-term cooling rates, linking microscopic phase behavior directly to the planet’s large-scale structure and evolution.</a:t>
            </a:r>
          </a:p>
          <a:p>
            <a:endParaRPr lang="en-IN" dirty="0"/>
          </a:p>
          <a:p>
            <a:r>
              <a:rPr lang="en-US" dirty="0"/>
              <a:t>This plot shows </a:t>
            </a:r>
            <a:r>
              <a:rPr lang="en-US" b="1" dirty="0"/>
              <a:t>temperature vs pressure</a:t>
            </a:r>
            <a:r>
              <a:rPr lang="en-US" dirty="0"/>
              <a:t> conditions inside giant planets and compares them with </a:t>
            </a:r>
            <a:r>
              <a:rPr lang="en-US" b="1" dirty="0"/>
              <a:t>hydrogen–helium (H–He) phase boundaries</a:t>
            </a:r>
            <a:r>
              <a:rPr lang="en-US" dirty="0"/>
              <a:t>.</a:t>
            </a:r>
          </a:p>
          <a:p>
            <a:r>
              <a:rPr lang="en-US" dirty="0"/>
              <a:t>The </a:t>
            </a:r>
            <a:r>
              <a:rPr lang="en-US" b="1" dirty="0"/>
              <a:t>colored curves</a:t>
            </a:r>
            <a:r>
              <a:rPr lang="en-US" dirty="0"/>
              <a:t> represent different theoretical predictions for when </a:t>
            </a:r>
            <a:r>
              <a:rPr lang="en-US" b="1" dirty="0"/>
              <a:t>helium becomes immiscible in hydrogen</a:t>
            </a:r>
            <a:r>
              <a:rPr lang="en-US" dirty="0"/>
              <a:t>—that is, when helium separates out instead of staying mixed.</a:t>
            </a:r>
          </a:p>
          <a:p>
            <a:r>
              <a:rPr lang="en-US" dirty="0"/>
              <a:t>The </a:t>
            </a:r>
            <a:r>
              <a:rPr lang="en-US" b="1" dirty="0"/>
              <a:t>black dashed lines</a:t>
            </a:r>
            <a:r>
              <a:rPr lang="en-US" dirty="0"/>
              <a:t> labeled </a:t>
            </a:r>
            <a:r>
              <a:rPr lang="en-US" b="1" dirty="0"/>
              <a:t>Jupiter</a:t>
            </a:r>
            <a:r>
              <a:rPr lang="en-US" dirty="0"/>
              <a:t> and </a:t>
            </a:r>
            <a:r>
              <a:rPr lang="en-US" b="1" dirty="0"/>
              <a:t>Saturn</a:t>
            </a:r>
            <a:r>
              <a:rPr lang="en-US" dirty="0"/>
              <a:t> are the planets’ </a:t>
            </a:r>
            <a:r>
              <a:rPr lang="en-US" b="1" dirty="0"/>
              <a:t>interior temperature–pressure profiles</a:t>
            </a:r>
            <a:r>
              <a:rPr lang="en-US" dirty="0"/>
              <a:t> (adiabats), showing the actual conditions inside the planets today.</a:t>
            </a:r>
          </a:p>
          <a:p>
            <a:r>
              <a:rPr lang="en-US" dirty="0"/>
              <a:t>Where a planet’s adiabat </a:t>
            </a:r>
            <a:r>
              <a:rPr lang="en-US" b="1" dirty="0"/>
              <a:t>crosses the H–He phase boundary</a:t>
            </a:r>
            <a:r>
              <a:rPr lang="en-US" dirty="0"/>
              <a:t>, helium becomes unstable in the mixture and can </a:t>
            </a:r>
            <a:r>
              <a:rPr lang="en-US" b="1" dirty="0"/>
              <a:t>separate and rain downward</a:t>
            </a:r>
            <a:r>
              <a:rPr lang="en-US" dirty="0"/>
              <a:t>.</a:t>
            </a:r>
          </a:p>
          <a:p>
            <a:r>
              <a:rPr lang="en-US" dirty="0"/>
              <a:t>The figure shows that </a:t>
            </a:r>
            <a:r>
              <a:rPr lang="en-US" b="1" dirty="0"/>
              <a:t>Saturn’s interior crosses this region more strongly</a:t>
            </a:r>
            <a:r>
              <a:rPr lang="en-US" dirty="0"/>
              <a:t>, explaining its intense helium rain and excess heat, while </a:t>
            </a:r>
            <a:r>
              <a:rPr lang="en-US" b="1" dirty="0"/>
              <a:t>Jupiter lies closer to or partially within the boundary</a:t>
            </a:r>
            <a:r>
              <a:rPr lang="en-US" dirty="0"/>
              <a:t>, implying weaker but still possible helium rain.</a:t>
            </a:r>
          </a:p>
          <a:p>
            <a:endParaRPr lang="en-IN" dirty="0"/>
          </a:p>
        </p:txBody>
      </p:sp>
      <p:sp>
        <p:nvSpPr>
          <p:cNvPr id="4" name="Slide Number Placeholder 3"/>
          <p:cNvSpPr>
            <a:spLocks noGrp="1"/>
          </p:cNvSpPr>
          <p:nvPr>
            <p:ph type="sldNum" sz="quarter" idx="5"/>
          </p:nvPr>
        </p:nvSpPr>
        <p:spPr/>
        <p:txBody>
          <a:bodyPr/>
          <a:lstStyle/>
          <a:p>
            <a:fld id="{BD6647E6-4491-4109-8BE6-B03F9EC65F66}" type="slidenum">
              <a:rPr lang="en-IN" smtClean="0"/>
              <a:t>18</a:t>
            </a:fld>
            <a:endParaRPr lang="en-IN"/>
          </a:p>
        </p:txBody>
      </p:sp>
    </p:spTree>
    <p:extLst>
      <p:ext uri="{BB962C8B-B14F-4D97-AF65-F5344CB8AC3E}">
        <p14:creationId xmlns:p14="http://schemas.microsoft.com/office/powerpoint/2010/main" val="6796953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observations collected over several decades and across multiple platforms show that Jupiter is not a simple, static gas giant but a dynamically evolving system. Gravity and magnetic field measurements independently point to a complex interior, including a diluted core and deep differential rotation, while atmospheric data reveal strong coupling between the weather layer and the planet’s interior.</a:t>
            </a:r>
          </a:p>
          <a:p>
            <a:r>
              <a:rPr lang="en-US" dirty="0"/>
              <a:t>Jupiter’s rapid rotation links its interior, atmosphere, and magnetosphere, driving global-scale dynamics that are fundamentally different from those on terrestrial planets. Beyond the planet itself, interactions with moons, rings, and Trojan populations demonstrate that Jupiter actively reshapes its surrounding environment rather than passively hosting it.</a:t>
            </a:r>
          </a:p>
          <a:p>
            <a:r>
              <a:rPr lang="en-US" dirty="0"/>
              <a:t>Finally, Jupiter serves as a critical benchmark for understanding gas giant formation and evolution. The physical processes inferred here—core dilution, deep circulation, and system-wide coupling—are directly relevant to interpreting the growing population of giant exoplanets observed around other stars.</a:t>
            </a:r>
          </a:p>
          <a:p>
            <a:endParaRPr lang="en-IN" dirty="0"/>
          </a:p>
        </p:txBody>
      </p:sp>
      <p:sp>
        <p:nvSpPr>
          <p:cNvPr id="4" name="Slide Number Placeholder 3"/>
          <p:cNvSpPr>
            <a:spLocks noGrp="1"/>
          </p:cNvSpPr>
          <p:nvPr>
            <p:ph type="sldNum" sz="quarter" idx="5"/>
          </p:nvPr>
        </p:nvSpPr>
        <p:spPr/>
        <p:txBody>
          <a:bodyPr/>
          <a:lstStyle/>
          <a:p>
            <a:fld id="{BD6647E6-4491-4109-8BE6-B03F9EC65F66}" type="slidenum">
              <a:rPr lang="en-IN" smtClean="0"/>
              <a:t>19</a:t>
            </a:fld>
            <a:endParaRPr lang="en-IN"/>
          </a:p>
        </p:txBody>
      </p:sp>
    </p:spTree>
    <p:extLst>
      <p:ext uri="{BB962C8B-B14F-4D97-AF65-F5344CB8AC3E}">
        <p14:creationId xmlns:p14="http://schemas.microsoft.com/office/powerpoint/2010/main" val="23447217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DFC13-2C7E-7BDF-3265-B3D8CE304E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EA2166-6B7B-F0B3-EB1E-C5300092AA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B63A4-B389-7D37-3A78-E03E90838F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6BC334-15AF-6435-94CB-903348F2079D}"/>
              </a:ext>
            </a:extLst>
          </p:cNvPr>
          <p:cNvSpPr>
            <a:spLocks noGrp="1"/>
          </p:cNvSpPr>
          <p:nvPr>
            <p:ph type="sldNum" sz="quarter" idx="5"/>
          </p:nvPr>
        </p:nvSpPr>
        <p:spPr/>
        <p:txBody>
          <a:bodyPr/>
          <a:lstStyle/>
          <a:p>
            <a:fld id="{BD6647E6-4491-4109-8BE6-B03F9EC65F66}" type="slidenum">
              <a:rPr lang="en-IN" smtClean="0"/>
              <a:t>20</a:t>
            </a:fld>
            <a:endParaRPr lang="en-IN"/>
          </a:p>
        </p:txBody>
      </p:sp>
    </p:spTree>
    <p:extLst>
      <p:ext uri="{BB962C8B-B14F-4D97-AF65-F5344CB8AC3E}">
        <p14:creationId xmlns:p14="http://schemas.microsoft.com/office/powerpoint/2010/main" val="13072109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BD6647E6-4491-4109-8BE6-B03F9EC65F66}" type="slidenum">
              <a:rPr lang="en-IN" smtClean="0"/>
              <a:t>21</a:t>
            </a:fld>
            <a:endParaRPr lang="en-IN"/>
          </a:p>
        </p:txBody>
      </p:sp>
    </p:spTree>
    <p:extLst>
      <p:ext uri="{BB962C8B-B14F-4D97-AF65-F5344CB8AC3E}">
        <p14:creationId xmlns:p14="http://schemas.microsoft.com/office/powerpoint/2010/main" val="39412200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64B7A-C544-C73A-DA73-5C3CDC3669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2B46BAF-A180-B142-E145-40E17B3A3B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8103A0D-F412-56DD-D0E4-94B450758D35}"/>
              </a:ext>
            </a:extLst>
          </p:cNvPr>
          <p:cNvSpPr>
            <a:spLocks noGrp="1"/>
          </p:cNvSpPr>
          <p:nvPr>
            <p:ph type="dt" sz="half" idx="10"/>
          </p:nvPr>
        </p:nvSpPr>
        <p:spPr/>
        <p:txBody>
          <a:bodyPr/>
          <a:lstStyle/>
          <a:p>
            <a:fld id="{2DF4E49C-83A9-4DCB-A405-D96E2280DB7C}" type="datetimeFigureOut">
              <a:rPr lang="en-IN" smtClean="0"/>
              <a:t>05-06-2026</a:t>
            </a:fld>
            <a:endParaRPr lang="en-IN"/>
          </a:p>
        </p:txBody>
      </p:sp>
      <p:sp>
        <p:nvSpPr>
          <p:cNvPr id="5" name="Footer Placeholder 4">
            <a:extLst>
              <a:ext uri="{FF2B5EF4-FFF2-40B4-BE49-F238E27FC236}">
                <a16:creationId xmlns:a16="http://schemas.microsoft.com/office/drawing/2014/main" id="{96DA868F-B5C7-EF51-A025-6FE8FC09E6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74836D-E5B5-95A0-B962-92B324B2E3BC}"/>
              </a:ext>
            </a:extLst>
          </p:cNvPr>
          <p:cNvSpPr>
            <a:spLocks noGrp="1"/>
          </p:cNvSpPr>
          <p:nvPr>
            <p:ph type="sldNum" sz="quarter" idx="12"/>
          </p:nvPr>
        </p:nvSpPr>
        <p:spPr/>
        <p:txBody>
          <a:bodyPr/>
          <a:lstStyle/>
          <a:p>
            <a:fld id="{551EC57A-F9DA-4F2C-989B-AAB2CDD94B69}" type="slidenum">
              <a:rPr lang="en-IN" smtClean="0"/>
              <a:t>‹#›</a:t>
            </a:fld>
            <a:endParaRPr lang="en-IN"/>
          </a:p>
        </p:txBody>
      </p:sp>
    </p:spTree>
    <p:extLst>
      <p:ext uri="{BB962C8B-B14F-4D97-AF65-F5344CB8AC3E}">
        <p14:creationId xmlns:p14="http://schemas.microsoft.com/office/powerpoint/2010/main" val="7992263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055A3-86E5-E9CF-64E7-B6AE68488D3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4FE3D83-2D45-2B2C-2CEC-784F3810AA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F59A41-D38E-AE85-EDFB-049F0F3F4FFD}"/>
              </a:ext>
            </a:extLst>
          </p:cNvPr>
          <p:cNvSpPr>
            <a:spLocks noGrp="1"/>
          </p:cNvSpPr>
          <p:nvPr>
            <p:ph type="dt" sz="half" idx="10"/>
          </p:nvPr>
        </p:nvSpPr>
        <p:spPr/>
        <p:txBody>
          <a:bodyPr/>
          <a:lstStyle/>
          <a:p>
            <a:fld id="{2DF4E49C-83A9-4DCB-A405-D96E2280DB7C}" type="datetimeFigureOut">
              <a:rPr lang="en-IN" smtClean="0"/>
              <a:t>05-06-2026</a:t>
            </a:fld>
            <a:endParaRPr lang="en-IN"/>
          </a:p>
        </p:txBody>
      </p:sp>
      <p:sp>
        <p:nvSpPr>
          <p:cNvPr id="5" name="Footer Placeholder 4">
            <a:extLst>
              <a:ext uri="{FF2B5EF4-FFF2-40B4-BE49-F238E27FC236}">
                <a16:creationId xmlns:a16="http://schemas.microsoft.com/office/drawing/2014/main" id="{AE902577-021C-D546-E9B3-926466F043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DB0D75-DD50-FBB0-0AD0-4A2A5B42E439}"/>
              </a:ext>
            </a:extLst>
          </p:cNvPr>
          <p:cNvSpPr>
            <a:spLocks noGrp="1"/>
          </p:cNvSpPr>
          <p:nvPr>
            <p:ph type="sldNum" sz="quarter" idx="12"/>
          </p:nvPr>
        </p:nvSpPr>
        <p:spPr/>
        <p:txBody>
          <a:bodyPr/>
          <a:lstStyle/>
          <a:p>
            <a:fld id="{551EC57A-F9DA-4F2C-989B-AAB2CDD94B69}" type="slidenum">
              <a:rPr lang="en-IN" smtClean="0"/>
              <a:t>‹#›</a:t>
            </a:fld>
            <a:endParaRPr lang="en-IN"/>
          </a:p>
        </p:txBody>
      </p:sp>
    </p:spTree>
    <p:extLst>
      <p:ext uri="{BB962C8B-B14F-4D97-AF65-F5344CB8AC3E}">
        <p14:creationId xmlns:p14="http://schemas.microsoft.com/office/powerpoint/2010/main" val="1232058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5EC62-58B4-53A9-7087-BC9F9CC56E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64201FE-FA1D-F036-BAAD-0B4C5364EAC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C9EFA3-535D-BFE9-9B9A-5236C8637D5B}"/>
              </a:ext>
            </a:extLst>
          </p:cNvPr>
          <p:cNvSpPr>
            <a:spLocks noGrp="1"/>
          </p:cNvSpPr>
          <p:nvPr>
            <p:ph type="dt" sz="half" idx="10"/>
          </p:nvPr>
        </p:nvSpPr>
        <p:spPr/>
        <p:txBody>
          <a:bodyPr/>
          <a:lstStyle/>
          <a:p>
            <a:fld id="{2DF4E49C-83A9-4DCB-A405-D96E2280DB7C}" type="datetimeFigureOut">
              <a:rPr lang="en-IN" smtClean="0"/>
              <a:t>05-06-2026</a:t>
            </a:fld>
            <a:endParaRPr lang="en-IN"/>
          </a:p>
        </p:txBody>
      </p:sp>
      <p:sp>
        <p:nvSpPr>
          <p:cNvPr id="5" name="Footer Placeholder 4">
            <a:extLst>
              <a:ext uri="{FF2B5EF4-FFF2-40B4-BE49-F238E27FC236}">
                <a16:creationId xmlns:a16="http://schemas.microsoft.com/office/drawing/2014/main" id="{83DDCFD8-C847-E407-5D82-9687A21FD5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4925C3-91EA-53E6-9C2F-F5F07F53912C}"/>
              </a:ext>
            </a:extLst>
          </p:cNvPr>
          <p:cNvSpPr>
            <a:spLocks noGrp="1"/>
          </p:cNvSpPr>
          <p:nvPr>
            <p:ph type="sldNum" sz="quarter" idx="12"/>
          </p:nvPr>
        </p:nvSpPr>
        <p:spPr/>
        <p:txBody>
          <a:bodyPr/>
          <a:lstStyle/>
          <a:p>
            <a:fld id="{551EC57A-F9DA-4F2C-989B-AAB2CDD94B69}" type="slidenum">
              <a:rPr lang="en-IN" smtClean="0"/>
              <a:t>‹#›</a:t>
            </a:fld>
            <a:endParaRPr lang="en-IN"/>
          </a:p>
        </p:txBody>
      </p:sp>
    </p:spTree>
    <p:extLst>
      <p:ext uri="{BB962C8B-B14F-4D97-AF65-F5344CB8AC3E}">
        <p14:creationId xmlns:p14="http://schemas.microsoft.com/office/powerpoint/2010/main" val="111074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90439-2C88-EED2-A555-5EB103542E7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E5FABE3-C477-D68F-BC95-6FCEEA12BD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66D24E4-872C-8A9E-E580-D864FD3D4C4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EFEBD0E-07C4-F206-F379-692327AB78EB}"/>
              </a:ext>
            </a:extLst>
          </p:cNvPr>
          <p:cNvSpPr>
            <a:spLocks noGrp="1"/>
          </p:cNvSpPr>
          <p:nvPr>
            <p:ph type="dt" sz="half" idx="10"/>
          </p:nvPr>
        </p:nvSpPr>
        <p:spPr/>
        <p:txBody>
          <a:bodyPr/>
          <a:lstStyle/>
          <a:p>
            <a:fld id="{2DF4E49C-83A9-4DCB-A405-D96E2280DB7C}" type="datetimeFigureOut">
              <a:rPr lang="en-IN" smtClean="0"/>
              <a:t>05-06-2026</a:t>
            </a:fld>
            <a:endParaRPr lang="en-IN"/>
          </a:p>
        </p:txBody>
      </p:sp>
      <p:sp>
        <p:nvSpPr>
          <p:cNvPr id="6" name="Footer Placeholder 5">
            <a:extLst>
              <a:ext uri="{FF2B5EF4-FFF2-40B4-BE49-F238E27FC236}">
                <a16:creationId xmlns:a16="http://schemas.microsoft.com/office/drawing/2014/main" id="{EB2B8442-2395-0AE4-0F79-7888F758B1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5900FB5-9019-0E2E-D7CC-9ECD91370BB3}"/>
              </a:ext>
            </a:extLst>
          </p:cNvPr>
          <p:cNvSpPr>
            <a:spLocks noGrp="1"/>
          </p:cNvSpPr>
          <p:nvPr>
            <p:ph type="sldNum" sz="quarter" idx="12"/>
          </p:nvPr>
        </p:nvSpPr>
        <p:spPr/>
        <p:txBody>
          <a:bodyPr/>
          <a:lstStyle/>
          <a:p>
            <a:fld id="{551EC57A-F9DA-4F2C-989B-AAB2CDD94B69}" type="slidenum">
              <a:rPr lang="en-IN" smtClean="0"/>
              <a:t>‹#›</a:t>
            </a:fld>
            <a:endParaRPr lang="en-IN"/>
          </a:p>
        </p:txBody>
      </p:sp>
    </p:spTree>
    <p:extLst>
      <p:ext uri="{BB962C8B-B14F-4D97-AF65-F5344CB8AC3E}">
        <p14:creationId xmlns:p14="http://schemas.microsoft.com/office/powerpoint/2010/main" val="1329499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480BA-F016-65A6-30AE-694E7ACCBC5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03471C0-F908-3204-C994-134AFFA35E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EBA917-5753-3B30-F548-FCD1D068A72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0BEF88A-160A-742C-6B0E-DFC1ED32C5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81A4D31-D56F-B649-22EF-2FE864D4A8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E6C1B7-D331-534F-010A-4532F402F3EE}"/>
              </a:ext>
            </a:extLst>
          </p:cNvPr>
          <p:cNvSpPr>
            <a:spLocks noGrp="1"/>
          </p:cNvSpPr>
          <p:nvPr>
            <p:ph type="dt" sz="half" idx="10"/>
          </p:nvPr>
        </p:nvSpPr>
        <p:spPr/>
        <p:txBody>
          <a:bodyPr/>
          <a:lstStyle/>
          <a:p>
            <a:fld id="{2DF4E49C-83A9-4DCB-A405-D96E2280DB7C}" type="datetimeFigureOut">
              <a:rPr lang="en-IN" smtClean="0"/>
              <a:t>05-06-2026</a:t>
            </a:fld>
            <a:endParaRPr lang="en-IN"/>
          </a:p>
        </p:txBody>
      </p:sp>
      <p:sp>
        <p:nvSpPr>
          <p:cNvPr id="8" name="Footer Placeholder 7">
            <a:extLst>
              <a:ext uri="{FF2B5EF4-FFF2-40B4-BE49-F238E27FC236}">
                <a16:creationId xmlns:a16="http://schemas.microsoft.com/office/drawing/2014/main" id="{ED65F4AA-F5E8-FF76-8A26-77345D17C85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E0BE22B-488E-0D74-5374-24C5D04E9608}"/>
              </a:ext>
            </a:extLst>
          </p:cNvPr>
          <p:cNvSpPr>
            <a:spLocks noGrp="1"/>
          </p:cNvSpPr>
          <p:nvPr>
            <p:ph type="sldNum" sz="quarter" idx="12"/>
          </p:nvPr>
        </p:nvSpPr>
        <p:spPr/>
        <p:txBody>
          <a:bodyPr/>
          <a:lstStyle/>
          <a:p>
            <a:fld id="{551EC57A-F9DA-4F2C-989B-AAB2CDD94B69}" type="slidenum">
              <a:rPr lang="en-IN" smtClean="0"/>
              <a:t>‹#›</a:t>
            </a:fld>
            <a:endParaRPr lang="en-IN"/>
          </a:p>
        </p:txBody>
      </p:sp>
    </p:spTree>
    <p:extLst>
      <p:ext uri="{BB962C8B-B14F-4D97-AF65-F5344CB8AC3E}">
        <p14:creationId xmlns:p14="http://schemas.microsoft.com/office/powerpoint/2010/main" val="19941873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A42DF-8A75-4E4A-B901-14B45814714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4559F9D-0F91-482A-9495-AB842584AF55}"/>
              </a:ext>
            </a:extLst>
          </p:cNvPr>
          <p:cNvSpPr>
            <a:spLocks noGrp="1"/>
          </p:cNvSpPr>
          <p:nvPr>
            <p:ph type="dt" sz="half" idx="10"/>
          </p:nvPr>
        </p:nvSpPr>
        <p:spPr/>
        <p:txBody>
          <a:bodyPr/>
          <a:lstStyle/>
          <a:p>
            <a:fld id="{2DF4E49C-83A9-4DCB-A405-D96E2280DB7C}" type="datetimeFigureOut">
              <a:rPr lang="en-IN" smtClean="0"/>
              <a:t>05-06-2026</a:t>
            </a:fld>
            <a:endParaRPr lang="en-IN"/>
          </a:p>
        </p:txBody>
      </p:sp>
      <p:sp>
        <p:nvSpPr>
          <p:cNvPr id="4" name="Footer Placeholder 3">
            <a:extLst>
              <a:ext uri="{FF2B5EF4-FFF2-40B4-BE49-F238E27FC236}">
                <a16:creationId xmlns:a16="http://schemas.microsoft.com/office/drawing/2014/main" id="{9C646101-5F3E-FFF9-DA73-0FC800948E0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4551738-70B5-DE01-8FBB-D8B033623342}"/>
              </a:ext>
            </a:extLst>
          </p:cNvPr>
          <p:cNvSpPr>
            <a:spLocks noGrp="1"/>
          </p:cNvSpPr>
          <p:nvPr>
            <p:ph type="sldNum" sz="quarter" idx="12"/>
          </p:nvPr>
        </p:nvSpPr>
        <p:spPr/>
        <p:txBody>
          <a:bodyPr/>
          <a:lstStyle/>
          <a:p>
            <a:fld id="{551EC57A-F9DA-4F2C-989B-AAB2CDD94B69}" type="slidenum">
              <a:rPr lang="en-IN" smtClean="0"/>
              <a:t>‹#›</a:t>
            </a:fld>
            <a:endParaRPr lang="en-IN"/>
          </a:p>
        </p:txBody>
      </p:sp>
    </p:spTree>
    <p:extLst>
      <p:ext uri="{BB962C8B-B14F-4D97-AF65-F5344CB8AC3E}">
        <p14:creationId xmlns:p14="http://schemas.microsoft.com/office/powerpoint/2010/main" val="19942681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D3F607-A2E3-99EA-7CC0-B6AB78B79483}"/>
              </a:ext>
            </a:extLst>
          </p:cNvPr>
          <p:cNvSpPr>
            <a:spLocks noGrp="1"/>
          </p:cNvSpPr>
          <p:nvPr>
            <p:ph type="dt" sz="half" idx="10"/>
          </p:nvPr>
        </p:nvSpPr>
        <p:spPr/>
        <p:txBody>
          <a:bodyPr/>
          <a:lstStyle/>
          <a:p>
            <a:fld id="{2DF4E49C-83A9-4DCB-A405-D96E2280DB7C}" type="datetimeFigureOut">
              <a:rPr lang="en-IN" smtClean="0"/>
              <a:t>05-06-2026</a:t>
            </a:fld>
            <a:endParaRPr lang="en-IN"/>
          </a:p>
        </p:txBody>
      </p:sp>
      <p:sp>
        <p:nvSpPr>
          <p:cNvPr id="3" name="Footer Placeholder 2">
            <a:extLst>
              <a:ext uri="{FF2B5EF4-FFF2-40B4-BE49-F238E27FC236}">
                <a16:creationId xmlns:a16="http://schemas.microsoft.com/office/drawing/2014/main" id="{C51874CE-F2D3-72ED-EA54-582981B06B3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D753716-AC18-9531-2995-CC3AADCF75EF}"/>
              </a:ext>
            </a:extLst>
          </p:cNvPr>
          <p:cNvSpPr>
            <a:spLocks noGrp="1"/>
          </p:cNvSpPr>
          <p:nvPr>
            <p:ph type="sldNum" sz="quarter" idx="12"/>
          </p:nvPr>
        </p:nvSpPr>
        <p:spPr/>
        <p:txBody>
          <a:bodyPr/>
          <a:lstStyle/>
          <a:p>
            <a:fld id="{551EC57A-F9DA-4F2C-989B-AAB2CDD94B69}" type="slidenum">
              <a:rPr lang="en-IN" smtClean="0"/>
              <a:t>‹#›</a:t>
            </a:fld>
            <a:endParaRPr lang="en-IN"/>
          </a:p>
        </p:txBody>
      </p:sp>
    </p:spTree>
    <p:extLst>
      <p:ext uri="{BB962C8B-B14F-4D97-AF65-F5344CB8AC3E}">
        <p14:creationId xmlns:p14="http://schemas.microsoft.com/office/powerpoint/2010/main" val="2838991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51751-D60C-0276-2BD4-A9D013F418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5C9388D-0C84-DF68-658C-A9010526D1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4505EAE-BF9D-CB39-0DB3-6062F53074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6E5FEB-9B6E-F5A2-8C31-BE94E903E72B}"/>
              </a:ext>
            </a:extLst>
          </p:cNvPr>
          <p:cNvSpPr>
            <a:spLocks noGrp="1"/>
          </p:cNvSpPr>
          <p:nvPr>
            <p:ph type="dt" sz="half" idx="10"/>
          </p:nvPr>
        </p:nvSpPr>
        <p:spPr/>
        <p:txBody>
          <a:bodyPr/>
          <a:lstStyle/>
          <a:p>
            <a:fld id="{2DF4E49C-83A9-4DCB-A405-D96E2280DB7C}" type="datetimeFigureOut">
              <a:rPr lang="en-IN" smtClean="0"/>
              <a:t>05-06-2026</a:t>
            </a:fld>
            <a:endParaRPr lang="en-IN"/>
          </a:p>
        </p:txBody>
      </p:sp>
      <p:sp>
        <p:nvSpPr>
          <p:cNvPr id="6" name="Footer Placeholder 5">
            <a:extLst>
              <a:ext uri="{FF2B5EF4-FFF2-40B4-BE49-F238E27FC236}">
                <a16:creationId xmlns:a16="http://schemas.microsoft.com/office/drawing/2014/main" id="{D1CCC605-1F40-DD5C-8D3D-F4CB2C99AD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FBECE6A-1F47-CE44-F906-43C7E5A9732C}"/>
              </a:ext>
            </a:extLst>
          </p:cNvPr>
          <p:cNvSpPr>
            <a:spLocks noGrp="1"/>
          </p:cNvSpPr>
          <p:nvPr>
            <p:ph type="sldNum" sz="quarter" idx="12"/>
          </p:nvPr>
        </p:nvSpPr>
        <p:spPr/>
        <p:txBody>
          <a:bodyPr/>
          <a:lstStyle/>
          <a:p>
            <a:fld id="{551EC57A-F9DA-4F2C-989B-AAB2CDD94B69}" type="slidenum">
              <a:rPr lang="en-IN" smtClean="0"/>
              <a:t>‹#›</a:t>
            </a:fld>
            <a:endParaRPr lang="en-IN"/>
          </a:p>
        </p:txBody>
      </p:sp>
    </p:spTree>
    <p:extLst>
      <p:ext uri="{BB962C8B-B14F-4D97-AF65-F5344CB8AC3E}">
        <p14:creationId xmlns:p14="http://schemas.microsoft.com/office/powerpoint/2010/main" val="27984956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72230-D0CE-6567-2D25-6733C52673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57066DE-7B0C-A76C-A478-A6D25592FD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928E769-42F1-5B40-9D34-D91568D6CF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2F9DE9-E9DB-DEA9-96FD-E13CB82A1357}"/>
              </a:ext>
            </a:extLst>
          </p:cNvPr>
          <p:cNvSpPr>
            <a:spLocks noGrp="1"/>
          </p:cNvSpPr>
          <p:nvPr>
            <p:ph type="dt" sz="half" idx="10"/>
          </p:nvPr>
        </p:nvSpPr>
        <p:spPr/>
        <p:txBody>
          <a:bodyPr/>
          <a:lstStyle/>
          <a:p>
            <a:fld id="{2DF4E49C-83A9-4DCB-A405-D96E2280DB7C}" type="datetimeFigureOut">
              <a:rPr lang="en-IN" smtClean="0"/>
              <a:t>05-06-2026</a:t>
            </a:fld>
            <a:endParaRPr lang="en-IN"/>
          </a:p>
        </p:txBody>
      </p:sp>
      <p:sp>
        <p:nvSpPr>
          <p:cNvPr id="6" name="Footer Placeholder 5">
            <a:extLst>
              <a:ext uri="{FF2B5EF4-FFF2-40B4-BE49-F238E27FC236}">
                <a16:creationId xmlns:a16="http://schemas.microsoft.com/office/drawing/2014/main" id="{0FD0096A-97F8-7DF9-116D-BAFE5F2FF7F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F8B337-C3E6-6F02-369B-10BB47DD0973}"/>
              </a:ext>
            </a:extLst>
          </p:cNvPr>
          <p:cNvSpPr>
            <a:spLocks noGrp="1"/>
          </p:cNvSpPr>
          <p:nvPr>
            <p:ph type="sldNum" sz="quarter" idx="12"/>
          </p:nvPr>
        </p:nvSpPr>
        <p:spPr/>
        <p:txBody>
          <a:bodyPr/>
          <a:lstStyle/>
          <a:p>
            <a:fld id="{551EC57A-F9DA-4F2C-989B-AAB2CDD94B69}" type="slidenum">
              <a:rPr lang="en-IN" smtClean="0"/>
              <a:t>‹#›</a:t>
            </a:fld>
            <a:endParaRPr lang="en-IN"/>
          </a:p>
        </p:txBody>
      </p:sp>
    </p:spTree>
    <p:extLst>
      <p:ext uri="{BB962C8B-B14F-4D97-AF65-F5344CB8AC3E}">
        <p14:creationId xmlns:p14="http://schemas.microsoft.com/office/powerpoint/2010/main" val="3236023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2C0AA-2ACE-3464-D1E8-FA452FE39AB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1110244-C126-6A19-3596-4F219F0ACA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24E594-85D6-6772-BD31-4909C386DCA5}"/>
              </a:ext>
            </a:extLst>
          </p:cNvPr>
          <p:cNvSpPr>
            <a:spLocks noGrp="1"/>
          </p:cNvSpPr>
          <p:nvPr>
            <p:ph type="dt" sz="half" idx="10"/>
          </p:nvPr>
        </p:nvSpPr>
        <p:spPr/>
        <p:txBody>
          <a:bodyPr/>
          <a:lstStyle/>
          <a:p>
            <a:fld id="{2DF4E49C-83A9-4DCB-A405-D96E2280DB7C}" type="datetimeFigureOut">
              <a:rPr lang="en-IN" smtClean="0"/>
              <a:t>05-06-2026</a:t>
            </a:fld>
            <a:endParaRPr lang="en-IN"/>
          </a:p>
        </p:txBody>
      </p:sp>
      <p:sp>
        <p:nvSpPr>
          <p:cNvPr id="5" name="Footer Placeholder 4">
            <a:extLst>
              <a:ext uri="{FF2B5EF4-FFF2-40B4-BE49-F238E27FC236}">
                <a16:creationId xmlns:a16="http://schemas.microsoft.com/office/drawing/2014/main" id="{EF8FFA13-8247-C74B-CE2E-41B42AF4C3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ACEB2B-5F29-61B5-DF89-A1D64EEA903A}"/>
              </a:ext>
            </a:extLst>
          </p:cNvPr>
          <p:cNvSpPr>
            <a:spLocks noGrp="1"/>
          </p:cNvSpPr>
          <p:nvPr>
            <p:ph type="sldNum" sz="quarter" idx="12"/>
          </p:nvPr>
        </p:nvSpPr>
        <p:spPr/>
        <p:txBody>
          <a:bodyPr/>
          <a:lstStyle/>
          <a:p>
            <a:fld id="{551EC57A-F9DA-4F2C-989B-AAB2CDD94B69}" type="slidenum">
              <a:rPr lang="en-IN" smtClean="0"/>
              <a:t>‹#›</a:t>
            </a:fld>
            <a:endParaRPr lang="en-IN"/>
          </a:p>
        </p:txBody>
      </p:sp>
    </p:spTree>
    <p:extLst>
      <p:ext uri="{BB962C8B-B14F-4D97-AF65-F5344CB8AC3E}">
        <p14:creationId xmlns:p14="http://schemas.microsoft.com/office/powerpoint/2010/main" val="2684645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2BC7E0-B200-1C1B-C30B-A5A8C1E84BC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F6D2844-8A01-9F4B-D3E1-319D2EEE06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46E9E4-5A87-09FD-548B-A18946BB4175}"/>
              </a:ext>
            </a:extLst>
          </p:cNvPr>
          <p:cNvSpPr>
            <a:spLocks noGrp="1"/>
          </p:cNvSpPr>
          <p:nvPr>
            <p:ph type="dt" sz="half" idx="10"/>
          </p:nvPr>
        </p:nvSpPr>
        <p:spPr/>
        <p:txBody>
          <a:bodyPr/>
          <a:lstStyle/>
          <a:p>
            <a:fld id="{2DF4E49C-83A9-4DCB-A405-D96E2280DB7C}" type="datetimeFigureOut">
              <a:rPr lang="en-IN" smtClean="0"/>
              <a:t>05-06-2026</a:t>
            </a:fld>
            <a:endParaRPr lang="en-IN"/>
          </a:p>
        </p:txBody>
      </p:sp>
      <p:sp>
        <p:nvSpPr>
          <p:cNvPr id="5" name="Footer Placeholder 4">
            <a:extLst>
              <a:ext uri="{FF2B5EF4-FFF2-40B4-BE49-F238E27FC236}">
                <a16:creationId xmlns:a16="http://schemas.microsoft.com/office/drawing/2014/main" id="{56C64C09-F29E-3210-7024-49CBAC6BF9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3C14EF-8BB9-0E49-CF46-00F0B5E2428A}"/>
              </a:ext>
            </a:extLst>
          </p:cNvPr>
          <p:cNvSpPr>
            <a:spLocks noGrp="1"/>
          </p:cNvSpPr>
          <p:nvPr>
            <p:ph type="sldNum" sz="quarter" idx="12"/>
          </p:nvPr>
        </p:nvSpPr>
        <p:spPr/>
        <p:txBody>
          <a:bodyPr/>
          <a:lstStyle/>
          <a:p>
            <a:fld id="{551EC57A-F9DA-4F2C-989B-AAB2CDD94B69}" type="slidenum">
              <a:rPr lang="en-IN" smtClean="0"/>
              <a:t>‹#›</a:t>
            </a:fld>
            <a:endParaRPr lang="en-IN"/>
          </a:p>
        </p:txBody>
      </p:sp>
    </p:spTree>
    <p:extLst>
      <p:ext uri="{BB962C8B-B14F-4D97-AF65-F5344CB8AC3E}">
        <p14:creationId xmlns:p14="http://schemas.microsoft.com/office/powerpoint/2010/main" val="38683587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DF4E49C-83A9-4DCB-A405-D96E2280DB7C}" type="datetimeFigureOut">
              <a:rPr lang="en-IN" smtClean="0"/>
              <a:t>05-06-2026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1EC57A-F9DA-4F2C-989B-AAB2CDD94B69}" type="slidenum">
              <a:rPr lang="en-IN" smtClean="0"/>
              <a:t>‹#›</a:t>
            </a:fld>
            <a:endParaRPr lang="en-IN"/>
          </a:p>
        </p:txBody>
      </p:sp>
    </p:spTree>
    <p:extLst>
      <p:ext uri="{BB962C8B-B14F-4D97-AF65-F5344CB8AC3E}">
        <p14:creationId xmlns:p14="http://schemas.microsoft.com/office/powerpoint/2010/main" val="40800905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F4E49C-83A9-4DCB-A405-D96E2280DB7C}" type="datetimeFigureOut">
              <a:rPr lang="en-IN" smtClean="0"/>
              <a:t>05-06-2026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1EC57A-F9DA-4F2C-989B-AAB2CDD94B69}" type="slidenum">
              <a:rPr lang="en-IN" smtClean="0"/>
              <a:t>‹#›</a:t>
            </a:fld>
            <a:endParaRPr lang="en-IN"/>
          </a:p>
        </p:txBody>
      </p:sp>
    </p:spTree>
    <p:extLst>
      <p:ext uri="{BB962C8B-B14F-4D97-AF65-F5344CB8AC3E}">
        <p14:creationId xmlns:p14="http://schemas.microsoft.com/office/powerpoint/2010/main" val="19448693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F4E49C-83A9-4DCB-A405-D96E2280DB7C}" type="datetimeFigureOut">
              <a:rPr lang="en-IN" smtClean="0"/>
              <a:t>05-06-2026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1EC57A-F9DA-4F2C-989B-AAB2CDD94B69}" type="slidenum">
              <a:rPr lang="en-IN" smtClean="0"/>
              <a:t>‹#›</a:t>
            </a:fld>
            <a:endParaRPr lang="en-IN"/>
          </a:p>
        </p:txBody>
      </p:sp>
    </p:spTree>
    <p:extLst>
      <p:ext uri="{BB962C8B-B14F-4D97-AF65-F5344CB8AC3E}">
        <p14:creationId xmlns:p14="http://schemas.microsoft.com/office/powerpoint/2010/main" val="26453435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F4E49C-83A9-4DCB-A405-D96E2280DB7C}" type="datetimeFigureOut">
              <a:rPr lang="en-IN" smtClean="0"/>
              <a:t>05-06-2026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51EC57A-F9DA-4F2C-989B-AAB2CDD94B69}" type="slidenum">
              <a:rPr lang="en-IN" smtClean="0"/>
              <a:t>‹#›</a:t>
            </a:fld>
            <a:endParaRPr lang="en-IN"/>
          </a:p>
        </p:txBody>
      </p:sp>
    </p:spTree>
    <p:extLst>
      <p:ext uri="{BB962C8B-B14F-4D97-AF65-F5344CB8AC3E}">
        <p14:creationId xmlns:p14="http://schemas.microsoft.com/office/powerpoint/2010/main" val="1751455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F4E49C-83A9-4DCB-A405-D96E2280DB7C}" type="datetimeFigureOut">
              <a:rPr lang="en-IN" smtClean="0"/>
              <a:t>05-06-2026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51EC57A-F9DA-4F2C-989B-AAB2CDD94B69}" type="slidenum">
              <a:rPr lang="en-IN" smtClean="0"/>
              <a:t>‹#›</a:t>
            </a:fld>
            <a:endParaRPr lang="en-IN"/>
          </a:p>
        </p:txBody>
      </p:sp>
    </p:spTree>
    <p:extLst>
      <p:ext uri="{BB962C8B-B14F-4D97-AF65-F5344CB8AC3E}">
        <p14:creationId xmlns:p14="http://schemas.microsoft.com/office/powerpoint/2010/main" val="2537654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F4E49C-83A9-4DCB-A405-D96E2280DB7C}" type="datetimeFigureOut">
              <a:rPr lang="en-IN" smtClean="0"/>
              <a:t>05-06-2026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51EC57A-F9DA-4F2C-989B-AAB2CDD94B69}" type="slidenum">
              <a:rPr lang="en-IN" smtClean="0"/>
              <a:t>‹#›</a:t>
            </a:fld>
            <a:endParaRPr lang="en-IN"/>
          </a:p>
        </p:txBody>
      </p:sp>
    </p:spTree>
    <p:extLst>
      <p:ext uri="{BB962C8B-B14F-4D97-AF65-F5344CB8AC3E}">
        <p14:creationId xmlns:p14="http://schemas.microsoft.com/office/powerpoint/2010/main" val="4212443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F4E49C-83A9-4DCB-A405-D96E2280DB7C}" type="datetimeFigureOut">
              <a:rPr lang="en-IN" smtClean="0"/>
              <a:t>05-06-2026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51EC57A-F9DA-4F2C-989B-AAB2CDD94B69}" type="slidenum">
              <a:rPr lang="en-IN" smtClean="0"/>
              <a:t>‹#›</a:t>
            </a:fld>
            <a:endParaRPr lang="en-IN"/>
          </a:p>
        </p:txBody>
      </p:sp>
    </p:spTree>
    <p:extLst>
      <p:ext uri="{BB962C8B-B14F-4D97-AF65-F5344CB8AC3E}">
        <p14:creationId xmlns:p14="http://schemas.microsoft.com/office/powerpoint/2010/main" val="3681114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F4E49C-83A9-4DCB-A405-D96E2280DB7C}" type="datetimeFigureOut">
              <a:rPr lang="en-IN" smtClean="0"/>
              <a:t>05-06-2026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51EC57A-F9DA-4F2C-989B-AAB2CDD94B69}" type="slidenum">
              <a:rPr lang="en-IN" smtClean="0"/>
              <a:t>‹#›</a:t>
            </a:fld>
            <a:endParaRPr lang="en-IN"/>
          </a:p>
        </p:txBody>
      </p:sp>
    </p:spTree>
    <p:extLst>
      <p:ext uri="{BB962C8B-B14F-4D97-AF65-F5344CB8AC3E}">
        <p14:creationId xmlns:p14="http://schemas.microsoft.com/office/powerpoint/2010/main" val="13682412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F4E49C-83A9-4DCB-A405-D96E2280DB7C}" type="datetimeFigureOut">
              <a:rPr lang="en-IN" smtClean="0"/>
              <a:t>05-06-2026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51EC57A-F9DA-4F2C-989B-AAB2CDD94B69}" type="slidenum">
              <a:rPr lang="en-IN" smtClean="0"/>
              <a:t>‹#›</a:t>
            </a:fld>
            <a:endParaRPr lang="en-IN"/>
          </a:p>
        </p:txBody>
      </p:sp>
    </p:spTree>
    <p:extLst>
      <p:ext uri="{BB962C8B-B14F-4D97-AF65-F5344CB8AC3E}">
        <p14:creationId xmlns:p14="http://schemas.microsoft.com/office/powerpoint/2010/main" val="28948942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F4E49C-83A9-4DCB-A405-D96E2280DB7C}" type="datetimeFigureOut">
              <a:rPr lang="en-IN" smtClean="0"/>
              <a:t>05-06-2026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1EC57A-F9DA-4F2C-989B-AAB2CDD94B69}" type="slidenum">
              <a:rPr lang="en-IN" smtClean="0"/>
              <a:t>‹#›</a:t>
            </a:fld>
            <a:endParaRPr lang="en-IN"/>
          </a:p>
        </p:txBody>
      </p:sp>
    </p:spTree>
    <p:extLst>
      <p:ext uri="{BB962C8B-B14F-4D97-AF65-F5344CB8AC3E}">
        <p14:creationId xmlns:p14="http://schemas.microsoft.com/office/powerpoint/2010/main" val="37948148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F4E49C-83A9-4DCB-A405-D96E2280DB7C}" type="datetimeFigureOut">
              <a:rPr lang="en-IN" smtClean="0"/>
              <a:t>05-06-2026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1EC57A-F9DA-4F2C-989B-AAB2CDD94B69}" type="slidenum">
              <a:rPr lang="en-IN" smtClean="0"/>
              <a:t>‹#›</a:t>
            </a:fld>
            <a:endParaRPr lang="en-IN"/>
          </a:p>
        </p:txBody>
      </p:sp>
    </p:spTree>
    <p:extLst>
      <p:ext uri="{BB962C8B-B14F-4D97-AF65-F5344CB8AC3E}">
        <p14:creationId xmlns:p14="http://schemas.microsoft.com/office/powerpoint/2010/main" val="2693244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8D71B9-CD48-A467-3560-30EAC8622F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2DE8B3-77D0-25E4-D950-C85A09242E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A2CEAD-8465-E39F-FA94-4114ED9960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DF4E49C-83A9-4DCB-A405-D96E2280DB7C}" type="datetimeFigureOut">
              <a:rPr lang="en-IN" smtClean="0"/>
              <a:t>05-06-2026</a:t>
            </a:fld>
            <a:endParaRPr lang="en-IN"/>
          </a:p>
        </p:txBody>
      </p:sp>
      <p:sp>
        <p:nvSpPr>
          <p:cNvPr id="5" name="Footer Placeholder 4">
            <a:extLst>
              <a:ext uri="{FF2B5EF4-FFF2-40B4-BE49-F238E27FC236}">
                <a16:creationId xmlns:a16="http://schemas.microsoft.com/office/drawing/2014/main" id="{770FAEC9-011C-4657-CC95-42A7C50A7C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BC256D9-A725-6E4A-1F10-F9D7E9536B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51EC57A-F9DA-4F2C-989B-AAB2CDD94B69}" type="slidenum">
              <a:rPr lang="en-IN" smtClean="0"/>
              <a:t>‹#›</a:t>
            </a:fld>
            <a:endParaRPr lang="en-IN"/>
          </a:p>
        </p:txBody>
      </p:sp>
    </p:spTree>
    <p:extLst>
      <p:ext uri="{BB962C8B-B14F-4D97-AF65-F5344CB8AC3E}">
        <p14:creationId xmlns:p14="http://schemas.microsoft.com/office/powerpoint/2010/main" val="3579884672"/>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2DF4E49C-83A9-4DCB-A405-D96E2280DB7C}" type="datetimeFigureOut">
              <a:rPr lang="en-IN" smtClean="0"/>
              <a:t>05-06-2026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551EC57A-F9DA-4F2C-989B-AAB2CDD94B69}" type="slidenum">
              <a:rPr lang="en-IN" smtClean="0"/>
              <a:t>‹#›</a:t>
            </a:fld>
            <a:endParaRPr lang="en-IN"/>
          </a:p>
        </p:txBody>
      </p:sp>
    </p:spTree>
    <p:extLst>
      <p:ext uri="{BB962C8B-B14F-4D97-AF65-F5344CB8AC3E}">
        <p14:creationId xmlns:p14="http://schemas.microsoft.com/office/powerpoint/2010/main" val="724754796"/>
      </p:ext>
    </p:extLst>
  </p:cSld>
  <p:clrMap bg1="dk1" tx1="lt1" bg2="dk2" tx2="lt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6.jpeg"/><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9.jpeg"/><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13.jpeg"/><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7.jpe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20.png"/><Relationship Id="rId4" Type="http://schemas.openxmlformats.org/officeDocument/2006/relationships/image" Target="../media/image19.jpe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22.jpe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24.jpe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26.jpe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29.gif"/></Relationships>
</file>

<file path=ppt/slides/_rels/slide16.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31.gif"/><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32.jpeg"/></Relationships>
</file>

<file path=ppt/slides/_rels/slide1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34.jpeg"/></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Jupiter returns as king of the night sky">
            <a:extLst>
              <a:ext uri="{FF2B5EF4-FFF2-40B4-BE49-F238E27FC236}">
                <a16:creationId xmlns:a16="http://schemas.microsoft.com/office/drawing/2014/main" id="{975C1C6F-D79C-610C-0625-A31EF6905B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3721" y="0"/>
            <a:ext cx="13922664"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DF28F67-7001-1060-B6B5-DEB83C1AAB6F}"/>
              </a:ext>
            </a:extLst>
          </p:cNvPr>
          <p:cNvSpPr>
            <a:spLocks noGrp="1"/>
          </p:cNvSpPr>
          <p:nvPr>
            <p:ph type="ctrTitle"/>
          </p:nvPr>
        </p:nvSpPr>
        <p:spPr>
          <a:xfrm>
            <a:off x="1524000" y="874100"/>
            <a:ext cx="9144000" cy="1355366"/>
          </a:xfrm>
        </p:spPr>
        <p:txBody>
          <a:bodyPr/>
          <a:lstStyle/>
          <a:p>
            <a:r>
              <a:rPr lang="en-IN" dirty="0">
                <a:solidFill>
                  <a:schemeClr val="bg2">
                    <a:lumMod val="75000"/>
                  </a:schemeClr>
                </a:solidFill>
                <a:latin typeface="Bookman Old Style" panose="02050604050505020204" pitchFamily="18" charset="0"/>
              </a:rPr>
              <a:t>THE JUPITER SYSTEM</a:t>
            </a:r>
          </a:p>
        </p:txBody>
      </p:sp>
      <p:sp>
        <p:nvSpPr>
          <p:cNvPr id="3" name="Subtitle 2">
            <a:extLst>
              <a:ext uri="{FF2B5EF4-FFF2-40B4-BE49-F238E27FC236}">
                <a16:creationId xmlns:a16="http://schemas.microsoft.com/office/drawing/2014/main" id="{CCC76954-C809-BFF0-7252-A7527A180CCB}"/>
              </a:ext>
            </a:extLst>
          </p:cNvPr>
          <p:cNvSpPr>
            <a:spLocks noGrp="1"/>
          </p:cNvSpPr>
          <p:nvPr>
            <p:ph type="subTitle" idx="1"/>
          </p:nvPr>
        </p:nvSpPr>
        <p:spPr>
          <a:xfrm>
            <a:off x="1" y="4329625"/>
            <a:ext cx="12191999" cy="2257987"/>
          </a:xfrm>
        </p:spPr>
        <p:txBody>
          <a:bodyPr/>
          <a:lstStyle/>
          <a:p>
            <a:r>
              <a:rPr lang="en-IN" dirty="0">
                <a:solidFill>
                  <a:schemeClr val="bg2">
                    <a:lumMod val="50000"/>
                  </a:schemeClr>
                </a:solidFill>
                <a:latin typeface="Bookman Old Style" panose="02050604050505020204" pitchFamily="18" charset="0"/>
              </a:rPr>
              <a:t>A NATURAL LABORATORY OF GRAVITATIONAL AND MAGNETIC PHYSICS</a:t>
            </a:r>
          </a:p>
          <a:p>
            <a:endParaRPr lang="en-IN" dirty="0">
              <a:solidFill>
                <a:schemeClr val="bg2">
                  <a:lumMod val="50000"/>
                </a:schemeClr>
              </a:solidFill>
              <a:latin typeface="Bookman Old Style" panose="02050604050505020204" pitchFamily="18" charset="0"/>
            </a:endParaRPr>
          </a:p>
          <a:p>
            <a:endParaRPr lang="en-IN" dirty="0">
              <a:solidFill>
                <a:schemeClr val="bg2">
                  <a:lumMod val="50000"/>
                </a:schemeClr>
              </a:solidFill>
              <a:latin typeface="Bookman Old Style" panose="02050604050505020204" pitchFamily="18" charset="0"/>
            </a:endParaRPr>
          </a:p>
          <a:p>
            <a:pPr algn="r"/>
            <a:endParaRPr lang="en-IN" dirty="0">
              <a:solidFill>
                <a:schemeClr val="bg2">
                  <a:lumMod val="50000"/>
                </a:schemeClr>
              </a:solidFill>
              <a:latin typeface="Bookman Old Style" panose="02050604050505020204" pitchFamily="18" charset="0"/>
            </a:endParaRPr>
          </a:p>
          <a:p>
            <a:r>
              <a:rPr lang="en-IN" dirty="0">
                <a:solidFill>
                  <a:schemeClr val="bg2">
                    <a:lumMod val="50000"/>
                  </a:schemeClr>
                </a:solidFill>
                <a:latin typeface="Bookman Old Style" panose="02050604050505020204" pitchFamily="18" charset="0"/>
              </a:rPr>
              <a:t>									 By- Neelesh Pandey </a:t>
            </a:r>
          </a:p>
        </p:txBody>
      </p:sp>
    </p:spTree>
    <p:extLst>
      <p:ext uri="{BB962C8B-B14F-4D97-AF65-F5344CB8AC3E}">
        <p14:creationId xmlns:p14="http://schemas.microsoft.com/office/powerpoint/2010/main" val="1278791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473FC-3268-267B-EDDF-CF29FFD46A7A}"/>
              </a:ext>
            </a:extLst>
          </p:cNvPr>
          <p:cNvSpPr>
            <a:spLocks noGrp="1"/>
          </p:cNvSpPr>
          <p:nvPr>
            <p:ph type="title"/>
          </p:nvPr>
        </p:nvSpPr>
        <p:spPr/>
        <p:txBody>
          <a:bodyPr/>
          <a:lstStyle/>
          <a:p>
            <a:r>
              <a:rPr lang="en-IN" dirty="0"/>
              <a:t>CONTENT</a:t>
            </a:r>
          </a:p>
        </p:txBody>
      </p:sp>
      <p:sp>
        <p:nvSpPr>
          <p:cNvPr id="3" name="Content Placeholder 2">
            <a:extLst>
              <a:ext uri="{FF2B5EF4-FFF2-40B4-BE49-F238E27FC236}">
                <a16:creationId xmlns:a16="http://schemas.microsoft.com/office/drawing/2014/main" id="{FDE9E9E1-F7E3-2FB7-D12E-D265EE249983}"/>
              </a:ext>
            </a:extLst>
          </p:cNvPr>
          <p:cNvSpPr>
            <a:spLocks noGrp="1"/>
          </p:cNvSpPr>
          <p:nvPr>
            <p:ph idx="1"/>
          </p:nvPr>
        </p:nvSpPr>
        <p:spPr/>
        <p:txBody>
          <a:bodyPr>
            <a:normAutofit fontScale="85000" lnSpcReduction="20000"/>
          </a:bodyPr>
          <a:lstStyle/>
          <a:p>
            <a:r>
              <a:rPr lang="en-IN" dirty="0"/>
              <a:t>FORMATION</a:t>
            </a:r>
          </a:p>
          <a:p>
            <a:r>
              <a:rPr lang="en-IN" dirty="0"/>
              <a:t>MIGRATION</a:t>
            </a:r>
          </a:p>
          <a:p>
            <a:r>
              <a:rPr lang="en-IN" dirty="0"/>
              <a:t>ATMOSPHERE</a:t>
            </a:r>
          </a:p>
          <a:p>
            <a:r>
              <a:rPr lang="en-IN" dirty="0"/>
              <a:t>JUNO’S FINDINGS</a:t>
            </a:r>
          </a:p>
          <a:p>
            <a:r>
              <a:rPr lang="en-IN" dirty="0"/>
              <a:t>CORE</a:t>
            </a:r>
          </a:p>
          <a:p>
            <a:r>
              <a:rPr lang="en-IN" dirty="0"/>
              <a:t>MAGNETIC FIELD</a:t>
            </a:r>
          </a:p>
          <a:p>
            <a:r>
              <a:rPr lang="en-IN" dirty="0"/>
              <a:t>GALILEAN MOONS</a:t>
            </a:r>
          </a:p>
          <a:p>
            <a:r>
              <a:rPr lang="en-IN" dirty="0"/>
              <a:t>RINGS </a:t>
            </a:r>
          </a:p>
          <a:p>
            <a:r>
              <a:rPr lang="en-IN" dirty="0"/>
              <a:t>TROJANS</a:t>
            </a:r>
          </a:p>
          <a:p>
            <a:r>
              <a:rPr lang="en-IN" dirty="0"/>
              <a:t>JUPITER’S INFLUENCE</a:t>
            </a:r>
          </a:p>
          <a:p>
            <a:r>
              <a:rPr lang="en-IN" dirty="0"/>
              <a:t>OBSERVATIONS AND INFERENCES</a:t>
            </a:r>
          </a:p>
          <a:p>
            <a:endParaRPr lang="en-IN" dirty="0"/>
          </a:p>
          <a:p>
            <a:endParaRPr lang="en-IN" dirty="0"/>
          </a:p>
          <a:p>
            <a:endParaRPr lang="en-IN" dirty="0"/>
          </a:p>
        </p:txBody>
      </p:sp>
      <p:pic>
        <p:nvPicPr>
          <p:cNvPr id="17410" name="Picture 2" descr="What telescope is recommended for viewing Jupiter's cloud bands? – Astro  Telescopios">
            <a:extLst>
              <a:ext uri="{FF2B5EF4-FFF2-40B4-BE49-F238E27FC236}">
                <a16:creationId xmlns:a16="http://schemas.microsoft.com/office/drawing/2014/main" id="{238ABE80-6FDD-B948-1BC6-A90BE3EA6A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3658" y="1266979"/>
            <a:ext cx="5560142" cy="41585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1355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F257F-D4D0-83F6-FF60-56523A6BC7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E894F9-B07F-4158-5997-CD62CDC666B7}"/>
              </a:ext>
            </a:extLst>
          </p:cNvPr>
          <p:cNvSpPr>
            <a:spLocks noGrp="1"/>
          </p:cNvSpPr>
          <p:nvPr>
            <p:ph type="title"/>
          </p:nvPr>
        </p:nvSpPr>
        <p:spPr/>
        <p:txBody>
          <a:bodyPr/>
          <a:lstStyle/>
          <a:p>
            <a:r>
              <a:rPr lang="en-IN" dirty="0"/>
              <a:t>OVERVIEW OF JUPITER</a:t>
            </a:r>
          </a:p>
        </p:txBody>
      </p:sp>
      <p:sp>
        <p:nvSpPr>
          <p:cNvPr id="4" name="Rectangle 1">
            <a:extLst>
              <a:ext uri="{FF2B5EF4-FFF2-40B4-BE49-F238E27FC236}">
                <a16:creationId xmlns:a16="http://schemas.microsoft.com/office/drawing/2014/main" id="{BC6183BA-5631-CBA5-1636-746468F67314}"/>
              </a:ext>
            </a:extLst>
          </p:cNvPr>
          <p:cNvSpPr>
            <a:spLocks noGrp="1" noChangeArrowheads="1"/>
          </p:cNvSpPr>
          <p:nvPr>
            <p:ph idx="1"/>
          </p:nvPr>
        </p:nvSpPr>
        <p:spPr bwMode="auto">
          <a:xfrm>
            <a:off x="838200" y="1477527"/>
            <a:ext cx="5029390" cy="5047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Mean radius: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~69,911 km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Equatorial radius: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~71,492 km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Polar radius: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~66,854 km (strong oblateness)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Mass: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~1.898 × 10²⁷ kg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Mass relative to Earth:</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~318 Earth masses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Mean density:</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~1.33 g cm⁻³</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Surface gravity (at 1 bar):</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~24.8 m s⁻² (~2.5× Earth)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Escape velocity:</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~59.5 km s⁻¹</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Semi-major axis (average distance from Sun):</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~5.2 AU</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(~778 million km)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Orbital period (year):</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~11.86 Earth years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Rotation period (day):</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~9.9 hours (fastest of all planets)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Axial tilt (obliquity):</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~3.1°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Equatorial circumference:</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~449,200 km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Albedo (Bond):</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~0.34</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Effective temperature (cloud tops):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~125 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Atmospheric composition (by volume):</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Hydrogen ~90%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Helium ~10% (trace methane, ammonia, water)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7" name="Picture 3" descr="All About Jupiter | NASA Space Place – NASA Science for Kids">
            <a:extLst>
              <a:ext uri="{FF2B5EF4-FFF2-40B4-BE49-F238E27FC236}">
                <a16:creationId xmlns:a16="http://schemas.microsoft.com/office/drawing/2014/main" id="{4ACBF23D-E5DC-FD08-1061-B1D6FD0AE2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4974" y="2074606"/>
            <a:ext cx="3657412" cy="36574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0010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38E22-BCE7-DA4A-C375-4AC3185E8BE9}"/>
              </a:ext>
            </a:extLst>
          </p:cNvPr>
          <p:cNvSpPr>
            <a:spLocks noGrp="1"/>
          </p:cNvSpPr>
          <p:nvPr>
            <p:ph type="title"/>
          </p:nvPr>
        </p:nvSpPr>
        <p:spPr/>
        <p:txBody>
          <a:bodyPr/>
          <a:lstStyle/>
          <a:p>
            <a:r>
              <a:rPr lang="en-IN" dirty="0"/>
              <a:t>FORMATION</a:t>
            </a:r>
          </a:p>
        </p:txBody>
      </p:sp>
      <p:pic>
        <p:nvPicPr>
          <p:cNvPr id="2051" name="Picture 3" descr="A Recipe for Jupiter - Mission Juno">
            <a:extLst>
              <a:ext uri="{FF2B5EF4-FFF2-40B4-BE49-F238E27FC236}">
                <a16:creationId xmlns:a16="http://schemas.microsoft.com/office/drawing/2014/main" id="{4FD92A43-89C4-18E7-1C7A-EB20157901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6638573" y="2270856"/>
            <a:ext cx="5419192" cy="3044942"/>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ow planets like Jupiter form | CSCS">
            <a:extLst>
              <a:ext uri="{FF2B5EF4-FFF2-40B4-BE49-F238E27FC236}">
                <a16:creationId xmlns:a16="http://schemas.microsoft.com/office/drawing/2014/main" id="{6676018F-0E57-E0D0-79FA-57A096ADF3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6193" y="4248267"/>
            <a:ext cx="4213899" cy="237837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The Building Blocks of Earth Could Have Come From Farther out in the Solar  System - Universe Today">
            <a:extLst>
              <a:ext uri="{FF2B5EF4-FFF2-40B4-BE49-F238E27FC236}">
                <a16:creationId xmlns:a16="http://schemas.microsoft.com/office/drawing/2014/main" id="{C86FD58A-AF31-3C1B-11CA-D8787D3D1C4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21360" y="1420548"/>
            <a:ext cx="5123566" cy="273744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77AAD9E-0251-9F54-60EE-0210A4A59CC6}"/>
              </a:ext>
            </a:extLst>
          </p:cNvPr>
          <p:cNvSpPr txBox="1"/>
          <p:nvPr/>
        </p:nvSpPr>
        <p:spPr>
          <a:xfrm>
            <a:off x="4133075" y="3880997"/>
            <a:ext cx="2311851" cy="276999"/>
          </a:xfrm>
          <a:prstGeom prst="rect">
            <a:avLst/>
          </a:prstGeom>
          <a:noFill/>
        </p:spPr>
        <p:txBody>
          <a:bodyPr wrap="none" rtlCol="0">
            <a:spAutoFit/>
          </a:bodyPr>
          <a:lstStyle/>
          <a:p>
            <a:r>
              <a:rPr lang="en-IN" sz="1200" dirty="0">
                <a:latin typeface="Times New Roman" panose="02020603050405020304" pitchFamily="18" charset="0"/>
                <a:cs typeface="Times New Roman" panose="02020603050405020304" pitchFamily="18" charset="0"/>
              </a:rPr>
              <a:t>Sean Raymond of planetplanet.net</a:t>
            </a:r>
          </a:p>
        </p:txBody>
      </p:sp>
      <p:sp>
        <p:nvSpPr>
          <p:cNvPr id="5" name="TextBox 4">
            <a:extLst>
              <a:ext uri="{FF2B5EF4-FFF2-40B4-BE49-F238E27FC236}">
                <a16:creationId xmlns:a16="http://schemas.microsoft.com/office/drawing/2014/main" id="{3808C23F-8925-5919-EEC2-50D16E1C8546}"/>
              </a:ext>
            </a:extLst>
          </p:cNvPr>
          <p:cNvSpPr txBox="1"/>
          <p:nvPr/>
        </p:nvSpPr>
        <p:spPr>
          <a:xfrm>
            <a:off x="5104959" y="6394903"/>
            <a:ext cx="946093" cy="276999"/>
          </a:xfrm>
          <a:prstGeom prst="rect">
            <a:avLst/>
          </a:prstGeom>
          <a:noFill/>
        </p:spPr>
        <p:txBody>
          <a:bodyPr wrap="none" rtlCol="0">
            <a:spAutoFit/>
          </a:bodyPr>
          <a:lstStyle/>
          <a:p>
            <a:r>
              <a:rPr lang="en-IN" sz="1200" dirty="0">
                <a:latin typeface="Times New Roman" panose="02020603050405020304" pitchFamily="18" charset="0"/>
                <a:cs typeface="Times New Roman" panose="02020603050405020304" pitchFamily="18" charset="0"/>
              </a:rPr>
              <a:t>news.uzh.ch</a:t>
            </a:r>
          </a:p>
        </p:txBody>
      </p:sp>
    </p:spTree>
    <p:extLst>
      <p:ext uri="{BB962C8B-B14F-4D97-AF65-F5344CB8AC3E}">
        <p14:creationId xmlns:p14="http://schemas.microsoft.com/office/powerpoint/2010/main" val="2052874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48139-16D7-D0BD-50E5-CF891B8BC060}"/>
              </a:ext>
            </a:extLst>
          </p:cNvPr>
          <p:cNvSpPr>
            <a:spLocks noGrp="1"/>
          </p:cNvSpPr>
          <p:nvPr>
            <p:ph type="title"/>
          </p:nvPr>
        </p:nvSpPr>
        <p:spPr/>
        <p:txBody>
          <a:bodyPr/>
          <a:lstStyle/>
          <a:p>
            <a:r>
              <a:rPr lang="en-IN" dirty="0"/>
              <a:t>FORMATION</a:t>
            </a:r>
          </a:p>
        </p:txBody>
      </p:sp>
      <p:pic>
        <p:nvPicPr>
          <p:cNvPr id="3075" name="Picture 3" descr="ESA - Beta Pictoris system">
            <a:extLst>
              <a:ext uri="{FF2B5EF4-FFF2-40B4-BE49-F238E27FC236}">
                <a16:creationId xmlns:a16="http://schemas.microsoft.com/office/drawing/2014/main" id="{AB2C1273-8D2F-B9C8-462C-113ECEC721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0307" y="2162822"/>
            <a:ext cx="3106995" cy="3090541"/>
          </a:xfrm>
          <a:prstGeom prst="rect">
            <a:avLst/>
          </a:prstGeom>
          <a:noFill/>
          <a:extLst>
            <a:ext uri="{909E8E84-426E-40DD-AFC4-6F175D3DCCD1}">
              <a14:hiddenFill xmlns:a14="http://schemas.microsoft.com/office/drawing/2010/main">
                <a:solidFill>
                  <a:srgbClr val="FFFFFF"/>
                </a:solidFill>
              </a14:hiddenFill>
            </a:ext>
          </a:extLst>
        </p:spPr>
      </p:pic>
      <p:pic>
        <p:nvPicPr>
          <p:cNvPr id="3077" name="Picture 5" descr="Stunning Exoplanet Time-lapse | ESO">
            <a:extLst>
              <a:ext uri="{FF2B5EF4-FFF2-40B4-BE49-F238E27FC236}">
                <a16:creationId xmlns:a16="http://schemas.microsoft.com/office/drawing/2014/main" id="{B0E8451B-57FF-0B64-25E5-BC4E7EB988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84668" y="365125"/>
            <a:ext cx="4504494" cy="334296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The motion of Beta Pictoris b | ESO Deutschland">
            <a:extLst>
              <a:ext uri="{FF2B5EF4-FFF2-40B4-BE49-F238E27FC236}">
                <a16:creationId xmlns:a16="http://schemas.microsoft.com/office/drawing/2014/main" id="{11B2B372-E342-2C4E-42A4-649BE01FE1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54038" y="3927788"/>
            <a:ext cx="4588747" cy="258117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6B49591-F4B9-6150-E7F8-F052FB8221BD}"/>
              </a:ext>
            </a:extLst>
          </p:cNvPr>
          <p:cNvSpPr txBox="1"/>
          <p:nvPr/>
        </p:nvSpPr>
        <p:spPr>
          <a:xfrm>
            <a:off x="2210637" y="5858189"/>
            <a:ext cx="2499210" cy="369332"/>
          </a:xfrm>
          <a:prstGeom prst="rect">
            <a:avLst/>
          </a:prstGeom>
          <a:noFill/>
        </p:spPr>
        <p:txBody>
          <a:bodyPr wrap="none" rtlCol="0">
            <a:spAutoFit/>
          </a:bodyPr>
          <a:lstStyle/>
          <a:p>
            <a:r>
              <a:rPr lang="en-IN" dirty="0"/>
              <a:t>BETA PICTORIS B: 63 LY</a:t>
            </a:r>
          </a:p>
        </p:txBody>
      </p:sp>
      <p:sp>
        <p:nvSpPr>
          <p:cNvPr id="4" name="TextBox 3">
            <a:extLst>
              <a:ext uri="{FF2B5EF4-FFF2-40B4-BE49-F238E27FC236}">
                <a16:creationId xmlns:a16="http://schemas.microsoft.com/office/drawing/2014/main" id="{9A157E5D-E48F-7234-E915-3D72E40E1BAD}"/>
              </a:ext>
            </a:extLst>
          </p:cNvPr>
          <p:cNvSpPr txBox="1"/>
          <p:nvPr/>
        </p:nvSpPr>
        <p:spPr>
          <a:xfrm>
            <a:off x="4511270" y="5218373"/>
            <a:ext cx="914400" cy="369332"/>
          </a:xfrm>
          <a:prstGeom prst="rect">
            <a:avLst/>
          </a:prstGeom>
          <a:noFill/>
        </p:spPr>
        <p:txBody>
          <a:bodyPr wrap="square" rtlCol="0">
            <a:spAutoFit/>
          </a:bodyPr>
          <a:lstStyle/>
          <a:p>
            <a:r>
              <a:rPr lang="en-IN" dirty="0"/>
              <a:t>ESO</a:t>
            </a:r>
          </a:p>
        </p:txBody>
      </p:sp>
      <p:sp>
        <p:nvSpPr>
          <p:cNvPr id="6" name="TextBox 5">
            <a:extLst>
              <a:ext uri="{FF2B5EF4-FFF2-40B4-BE49-F238E27FC236}">
                <a16:creationId xmlns:a16="http://schemas.microsoft.com/office/drawing/2014/main" id="{3993827D-25CD-EF5C-9DF6-86A76861E996}"/>
              </a:ext>
            </a:extLst>
          </p:cNvPr>
          <p:cNvSpPr txBox="1"/>
          <p:nvPr/>
        </p:nvSpPr>
        <p:spPr>
          <a:xfrm>
            <a:off x="9848423" y="6488668"/>
            <a:ext cx="914400" cy="369332"/>
          </a:xfrm>
          <a:prstGeom prst="rect">
            <a:avLst/>
          </a:prstGeom>
          <a:noFill/>
        </p:spPr>
        <p:txBody>
          <a:bodyPr wrap="square" rtlCol="0">
            <a:spAutoFit/>
          </a:bodyPr>
          <a:lstStyle/>
          <a:p>
            <a:r>
              <a:rPr lang="en-IN" dirty="0"/>
              <a:t>ESO</a:t>
            </a:r>
          </a:p>
        </p:txBody>
      </p:sp>
      <p:sp>
        <p:nvSpPr>
          <p:cNvPr id="7" name="TextBox 6">
            <a:extLst>
              <a:ext uri="{FF2B5EF4-FFF2-40B4-BE49-F238E27FC236}">
                <a16:creationId xmlns:a16="http://schemas.microsoft.com/office/drawing/2014/main" id="{B6DD7316-7CE6-BF46-2DF7-81DFA0AD5666}"/>
              </a:ext>
            </a:extLst>
          </p:cNvPr>
          <p:cNvSpPr txBox="1"/>
          <p:nvPr/>
        </p:nvSpPr>
        <p:spPr>
          <a:xfrm>
            <a:off x="9686570" y="3558456"/>
            <a:ext cx="914400" cy="369332"/>
          </a:xfrm>
          <a:prstGeom prst="rect">
            <a:avLst/>
          </a:prstGeom>
          <a:noFill/>
        </p:spPr>
        <p:txBody>
          <a:bodyPr wrap="square" rtlCol="0">
            <a:spAutoFit/>
          </a:bodyPr>
          <a:lstStyle/>
          <a:p>
            <a:r>
              <a:rPr lang="en-IN" dirty="0"/>
              <a:t>ESO</a:t>
            </a:r>
          </a:p>
        </p:txBody>
      </p:sp>
    </p:spTree>
    <p:extLst>
      <p:ext uri="{BB962C8B-B14F-4D97-AF65-F5344CB8AC3E}">
        <p14:creationId xmlns:p14="http://schemas.microsoft.com/office/powerpoint/2010/main" val="3460069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642F2-B4C3-E1FB-14B4-2D8AC890D907}"/>
              </a:ext>
            </a:extLst>
          </p:cNvPr>
          <p:cNvSpPr>
            <a:spLocks noGrp="1"/>
          </p:cNvSpPr>
          <p:nvPr>
            <p:ph type="title"/>
          </p:nvPr>
        </p:nvSpPr>
        <p:spPr/>
        <p:txBody>
          <a:bodyPr/>
          <a:lstStyle/>
          <a:p>
            <a:r>
              <a:rPr lang="en-IN" dirty="0"/>
              <a:t>MIGRATION</a:t>
            </a:r>
          </a:p>
        </p:txBody>
      </p:sp>
      <p:sp>
        <p:nvSpPr>
          <p:cNvPr id="4" name="Rectangle 1">
            <a:extLst>
              <a:ext uri="{FF2B5EF4-FFF2-40B4-BE49-F238E27FC236}">
                <a16:creationId xmlns:a16="http://schemas.microsoft.com/office/drawing/2014/main" id="{347C29A6-87F4-8C36-F890-0270FB76B55C}"/>
              </a:ext>
            </a:extLst>
          </p:cNvPr>
          <p:cNvSpPr>
            <a:spLocks noGrp="1" noChangeArrowheads="1"/>
          </p:cNvSpPr>
          <p:nvPr>
            <p:ph idx="1"/>
          </p:nvPr>
        </p:nvSpPr>
        <p:spPr bwMode="auto">
          <a:xfrm>
            <a:off x="838200" y="1877636"/>
            <a:ext cx="5070987"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Jupiter interacted gravitationally with the gaseous protoplanetary disk, causing radial migration during its growth phase.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Early inward migration likely occurred via Type I/early Type II migration before a deep gap fully formed.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After opening a gap, Jupiter’s migration became coupled to the disk’s viscous evolution (Type II migration).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Resonant interaction with Saturn may have reversed Jupiter’s inward motion, leading to outward migration (Grand Tack scenario).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Jupiter’s migration reshaped the asteroid belt, influenced terrestrial planet formation, and controlled material transport in the Solar System.</a:t>
            </a:r>
          </a:p>
        </p:txBody>
      </p:sp>
      <p:pic>
        <p:nvPicPr>
          <p:cNvPr id="4099" name="Picture 3" descr="A low mass for Mars from Jupiter's early gas-driven migration | Nature">
            <a:extLst>
              <a:ext uri="{FF2B5EF4-FFF2-40B4-BE49-F238E27FC236}">
                <a16:creationId xmlns:a16="http://schemas.microsoft.com/office/drawing/2014/main" id="{9AA50592-A36E-CAD3-0B75-E24D8DF30C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8956" y="1322049"/>
            <a:ext cx="5007594" cy="480290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5DD5E8E-29AA-D57F-AB77-F29F50EBFF47}"/>
              </a:ext>
            </a:extLst>
          </p:cNvPr>
          <p:cNvSpPr txBox="1"/>
          <p:nvPr/>
        </p:nvSpPr>
        <p:spPr>
          <a:xfrm>
            <a:off x="6727361" y="6127235"/>
            <a:ext cx="4649030" cy="246221"/>
          </a:xfrm>
          <a:prstGeom prst="rect">
            <a:avLst/>
          </a:prstGeom>
          <a:noFill/>
        </p:spPr>
        <p:txBody>
          <a:bodyPr wrap="none" rtlCol="0">
            <a:spAutoFit/>
          </a:bodyPr>
          <a:lstStyle/>
          <a:p>
            <a:r>
              <a:rPr lang="en-IN" sz="1000" dirty="0"/>
              <a:t>Walsh, K. J., </a:t>
            </a:r>
            <a:r>
              <a:rPr lang="en-IN" sz="1000" dirty="0" err="1"/>
              <a:t>Morbidelli</a:t>
            </a:r>
            <a:r>
              <a:rPr lang="en-IN" sz="1000" dirty="0"/>
              <a:t>, A., Raymond, S. N., O’Brien, D. P., &amp; Mandell, A. M. (2011)</a:t>
            </a:r>
          </a:p>
        </p:txBody>
      </p:sp>
    </p:spTree>
    <p:extLst>
      <p:ext uri="{BB962C8B-B14F-4D97-AF65-F5344CB8AC3E}">
        <p14:creationId xmlns:p14="http://schemas.microsoft.com/office/powerpoint/2010/main" val="41770884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FB703-7407-10A4-906C-DBF65CBBDDD1}"/>
              </a:ext>
            </a:extLst>
          </p:cNvPr>
          <p:cNvSpPr>
            <a:spLocks noGrp="1"/>
          </p:cNvSpPr>
          <p:nvPr>
            <p:ph type="title"/>
          </p:nvPr>
        </p:nvSpPr>
        <p:spPr/>
        <p:txBody>
          <a:bodyPr/>
          <a:lstStyle/>
          <a:p>
            <a:r>
              <a:rPr lang="en-IN" dirty="0"/>
              <a:t>ATMOSPHERE</a:t>
            </a:r>
          </a:p>
        </p:txBody>
      </p:sp>
      <p:pic>
        <p:nvPicPr>
          <p:cNvPr id="5122" name="Picture 2" descr="Comet Shoemaker-Levy's First Fragment Impacts With Jupiter - NASA Science">
            <a:extLst>
              <a:ext uri="{FF2B5EF4-FFF2-40B4-BE49-F238E27FC236}">
                <a16:creationId xmlns:a16="http://schemas.microsoft.com/office/drawing/2014/main" id="{4A28A130-6A07-7271-0CD0-16F08923C9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2595" y="2366881"/>
            <a:ext cx="4457546" cy="3609499"/>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3">
            <a:extLst>
              <a:ext uri="{FF2B5EF4-FFF2-40B4-BE49-F238E27FC236}">
                <a16:creationId xmlns:a16="http://schemas.microsoft.com/office/drawing/2014/main" id="{657EB6CC-CE92-6EEF-D344-3DEEC792E5D2}"/>
              </a:ext>
            </a:extLst>
          </p:cNvPr>
          <p:cNvSpPr>
            <a:spLocks noGrp="1" noChangeArrowheads="1"/>
          </p:cNvSpPr>
          <p:nvPr>
            <p:ph idx="1"/>
          </p:nvPr>
        </p:nvSpPr>
        <p:spPr bwMode="auto">
          <a:xfrm>
            <a:off x="838200" y="1690688"/>
            <a:ext cx="507098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Observed by Galileo spacecraft, Hubble Space Telescope, ROSAT, EUVE, IUE, Ulysses and Voyager 2</a:t>
            </a:r>
          </a:p>
        </p:txBody>
      </p:sp>
      <p:pic>
        <p:nvPicPr>
          <p:cNvPr id="4100" name="Picture 4" descr="Jupiter and comet Shoemaker-Levy 9, as imaged by the Hubble Space... |  Download Scientific Diagram">
            <a:extLst>
              <a:ext uri="{FF2B5EF4-FFF2-40B4-BE49-F238E27FC236}">
                <a16:creationId xmlns:a16="http://schemas.microsoft.com/office/drawing/2014/main" id="{F034F245-F710-AAA2-6FDA-D5DAC1BABC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100" y="2857657"/>
            <a:ext cx="2497097" cy="321595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76A5CEF-041B-4C67-3F40-EFD39A454BB6}"/>
              </a:ext>
            </a:extLst>
          </p:cNvPr>
          <p:cNvSpPr txBox="1"/>
          <p:nvPr/>
        </p:nvSpPr>
        <p:spPr>
          <a:xfrm>
            <a:off x="1119490" y="6229978"/>
            <a:ext cx="1996316" cy="369332"/>
          </a:xfrm>
          <a:prstGeom prst="rect">
            <a:avLst/>
          </a:prstGeom>
          <a:noFill/>
        </p:spPr>
        <p:txBody>
          <a:bodyPr wrap="none" rtlCol="0">
            <a:spAutoFit/>
          </a:bodyPr>
          <a:lstStyle/>
          <a:p>
            <a:r>
              <a:rPr lang="en-IN" dirty="0"/>
              <a:t>Clicked by Hubble</a:t>
            </a:r>
          </a:p>
        </p:txBody>
      </p:sp>
      <p:pic>
        <p:nvPicPr>
          <p:cNvPr id="4102" name="Picture 6" descr="orbital mechanics - What calculations show that Comet Shoemaker-Levy 9  orbited Jupiter for several decades before its spectacular impact? (Chodas,  Sekanina &amp; Yeomans) - Astronomy Stack Exchange">
            <a:extLst>
              <a:ext uri="{FF2B5EF4-FFF2-40B4-BE49-F238E27FC236}">
                <a16:creationId xmlns:a16="http://schemas.microsoft.com/office/drawing/2014/main" id="{111B22BC-EF81-13F4-0940-5EDD923E19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45548" y="2976059"/>
            <a:ext cx="3367047" cy="296012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17BA812-C104-E006-CB77-C99F4847AF13}"/>
              </a:ext>
            </a:extLst>
          </p:cNvPr>
          <p:cNvSpPr txBox="1"/>
          <p:nvPr/>
        </p:nvSpPr>
        <p:spPr>
          <a:xfrm>
            <a:off x="5195135" y="5936188"/>
            <a:ext cx="2314095" cy="369332"/>
          </a:xfrm>
          <a:prstGeom prst="rect">
            <a:avLst/>
          </a:prstGeom>
          <a:noFill/>
        </p:spPr>
        <p:txBody>
          <a:bodyPr wrap="none" rtlCol="0">
            <a:spAutoFit/>
          </a:bodyPr>
          <a:lstStyle/>
          <a:p>
            <a:r>
              <a:rPr lang="en-IN" dirty="0" err="1"/>
              <a:t>Sekanina</a:t>
            </a:r>
            <a:r>
              <a:rPr lang="en-IN" dirty="0"/>
              <a:t> et al. (1994)</a:t>
            </a:r>
          </a:p>
        </p:txBody>
      </p:sp>
    </p:spTree>
    <p:extLst>
      <p:ext uri="{BB962C8B-B14F-4D97-AF65-F5344CB8AC3E}">
        <p14:creationId xmlns:p14="http://schemas.microsoft.com/office/powerpoint/2010/main" val="2400603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462EF-0839-719B-8E3D-EE3B32B357C8}"/>
              </a:ext>
            </a:extLst>
          </p:cNvPr>
          <p:cNvSpPr>
            <a:spLocks noGrp="1"/>
          </p:cNvSpPr>
          <p:nvPr>
            <p:ph type="title"/>
          </p:nvPr>
        </p:nvSpPr>
        <p:spPr/>
        <p:txBody>
          <a:bodyPr/>
          <a:lstStyle/>
          <a:p>
            <a:r>
              <a:rPr lang="en-IN" dirty="0"/>
              <a:t>ATMOSPHERE</a:t>
            </a:r>
          </a:p>
        </p:txBody>
      </p:sp>
      <p:pic>
        <p:nvPicPr>
          <p:cNvPr id="8" name="Picture 7">
            <a:extLst>
              <a:ext uri="{FF2B5EF4-FFF2-40B4-BE49-F238E27FC236}">
                <a16:creationId xmlns:a16="http://schemas.microsoft.com/office/drawing/2014/main" id="{3FF19A71-27DD-7BF0-F952-F9940A5E9314}"/>
              </a:ext>
            </a:extLst>
          </p:cNvPr>
          <p:cNvPicPr>
            <a:picLocks noChangeAspect="1"/>
          </p:cNvPicPr>
          <p:nvPr/>
        </p:nvPicPr>
        <p:blipFill>
          <a:blip r:embed="rId3"/>
          <a:stretch>
            <a:fillRect/>
          </a:stretch>
        </p:blipFill>
        <p:spPr>
          <a:xfrm>
            <a:off x="6096000" y="1059344"/>
            <a:ext cx="5410669" cy="5433531"/>
          </a:xfrm>
          <a:prstGeom prst="rect">
            <a:avLst/>
          </a:prstGeom>
        </p:spPr>
      </p:pic>
      <p:pic>
        <p:nvPicPr>
          <p:cNvPr id="5122" name="Picture 2" descr="Jupiter | GAPT">
            <a:extLst>
              <a:ext uri="{FF2B5EF4-FFF2-40B4-BE49-F238E27FC236}">
                <a16:creationId xmlns:a16="http://schemas.microsoft.com/office/drawing/2014/main" id="{5CA26CBC-A720-2006-FF22-115346CB1C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7554" y="1844300"/>
            <a:ext cx="3648075" cy="44196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8B38FE7-6D28-31B7-253A-BEACB82E73E2}"/>
              </a:ext>
            </a:extLst>
          </p:cNvPr>
          <p:cNvSpPr txBox="1"/>
          <p:nvPr/>
        </p:nvSpPr>
        <p:spPr>
          <a:xfrm>
            <a:off x="1066800" y="6401435"/>
            <a:ext cx="4150495" cy="246221"/>
          </a:xfrm>
          <a:prstGeom prst="rect">
            <a:avLst/>
          </a:prstGeom>
          <a:noFill/>
        </p:spPr>
        <p:txBody>
          <a:bodyPr wrap="none" rtlCol="0">
            <a:spAutoFit/>
          </a:bodyPr>
          <a:lstStyle/>
          <a:p>
            <a:r>
              <a:rPr lang="en-US" sz="1000" dirty="0"/>
              <a:t>F. </a:t>
            </a:r>
            <a:r>
              <a:rPr lang="en-US" sz="1000" dirty="0" err="1"/>
              <a:t>Bagenal</a:t>
            </a:r>
            <a:r>
              <a:rPr lang="en-US" sz="1000" dirty="0"/>
              <a:t>, T. Dowling, W. McKinnon (2004, Cambridge University Press)</a:t>
            </a:r>
            <a:endParaRPr lang="en-IN" sz="1000" dirty="0"/>
          </a:p>
        </p:txBody>
      </p:sp>
    </p:spTree>
    <p:extLst>
      <p:ext uri="{BB962C8B-B14F-4D97-AF65-F5344CB8AC3E}">
        <p14:creationId xmlns:p14="http://schemas.microsoft.com/office/powerpoint/2010/main" val="14680846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649F1-991C-9599-3FDB-FC48DBB0C798}"/>
              </a:ext>
            </a:extLst>
          </p:cNvPr>
          <p:cNvSpPr>
            <a:spLocks noGrp="1"/>
          </p:cNvSpPr>
          <p:nvPr>
            <p:ph type="title"/>
          </p:nvPr>
        </p:nvSpPr>
        <p:spPr/>
        <p:txBody>
          <a:bodyPr/>
          <a:lstStyle/>
          <a:p>
            <a:r>
              <a:rPr lang="en-IN" dirty="0"/>
              <a:t>GREAT </a:t>
            </a:r>
            <a:r>
              <a:rPr lang="en-IN" dirty="0">
                <a:solidFill>
                  <a:schemeClr val="tx1">
                    <a:lumMod val="95000"/>
                  </a:schemeClr>
                </a:solidFill>
              </a:rPr>
              <a:t>RED</a:t>
            </a:r>
            <a:r>
              <a:rPr lang="en-IN" dirty="0"/>
              <a:t> SPOT</a:t>
            </a:r>
          </a:p>
        </p:txBody>
      </p:sp>
      <p:pic>
        <p:nvPicPr>
          <p:cNvPr id="7171" name="Picture 3" descr="Juno Delivers Stunning New Views of Great Red Spot | Scientific American">
            <a:extLst>
              <a:ext uri="{FF2B5EF4-FFF2-40B4-BE49-F238E27FC236}">
                <a16:creationId xmlns:a16="http://schemas.microsoft.com/office/drawing/2014/main" id="{47D669E6-C18D-9023-4908-82AFC9FEAC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3149" y="2431634"/>
            <a:ext cx="5605930" cy="3139321"/>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Earth beside Jupiter's Great Red Spot(to scale) : r/space">
            <a:extLst>
              <a:ext uri="{FF2B5EF4-FFF2-40B4-BE49-F238E27FC236}">
                <a16:creationId xmlns:a16="http://schemas.microsoft.com/office/drawing/2014/main" id="{57042D25-6DBC-DAF4-B781-C03B478DB8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8456" y="2091531"/>
            <a:ext cx="5514975" cy="38195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8D5F876-9A8A-0AC0-8AD5-BFDDECEAE4C5}"/>
              </a:ext>
            </a:extLst>
          </p:cNvPr>
          <p:cNvSpPr txBox="1"/>
          <p:nvPr/>
        </p:nvSpPr>
        <p:spPr>
          <a:xfrm>
            <a:off x="3535680" y="5896441"/>
            <a:ext cx="6096000" cy="369332"/>
          </a:xfrm>
          <a:prstGeom prst="rect">
            <a:avLst/>
          </a:prstGeom>
          <a:noFill/>
        </p:spPr>
        <p:txBody>
          <a:bodyPr wrap="square">
            <a:spAutoFit/>
          </a:bodyPr>
          <a:lstStyle/>
          <a:p>
            <a:r>
              <a:rPr lang="en-IN" dirty="0"/>
              <a:t>photomontage ©Michael Carroll</a:t>
            </a:r>
          </a:p>
        </p:txBody>
      </p:sp>
    </p:spTree>
    <p:extLst>
      <p:ext uri="{BB962C8B-B14F-4D97-AF65-F5344CB8AC3E}">
        <p14:creationId xmlns:p14="http://schemas.microsoft.com/office/powerpoint/2010/main" val="31958377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470C0-AFDB-16D9-9261-9E31449E7F47}"/>
              </a:ext>
            </a:extLst>
          </p:cNvPr>
          <p:cNvSpPr>
            <a:spLocks noGrp="1"/>
          </p:cNvSpPr>
          <p:nvPr>
            <p:ph type="title"/>
          </p:nvPr>
        </p:nvSpPr>
        <p:spPr/>
        <p:txBody>
          <a:bodyPr/>
          <a:lstStyle/>
          <a:p>
            <a:r>
              <a:rPr lang="en-IN" dirty="0"/>
              <a:t>JUNO’S FINDINGS</a:t>
            </a:r>
          </a:p>
        </p:txBody>
      </p:sp>
      <p:pic>
        <p:nvPicPr>
          <p:cNvPr id="7170" name="Picture 2" descr="Juno spacecraft gravity measurements provide evidence for normal modes of  Jupiter | Nature Communications">
            <a:extLst>
              <a:ext uri="{FF2B5EF4-FFF2-40B4-BE49-F238E27FC236}">
                <a16:creationId xmlns:a16="http://schemas.microsoft.com/office/drawing/2014/main" id="{E6B6895C-BD04-62F2-3FAC-BC8ECC09F2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6598" y="271949"/>
            <a:ext cx="6524625" cy="295275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Data Recorded as Juno Entered Magnetosphere - NASA Science">
            <a:extLst>
              <a:ext uri="{FF2B5EF4-FFF2-40B4-BE49-F238E27FC236}">
                <a16:creationId xmlns:a16="http://schemas.microsoft.com/office/drawing/2014/main" id="{95ACE572-AE68-04E3-E99D-FAAA40E1FF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9969" y="3428999"/>
            <a:ext cx="6891254" cy="3161514"/>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In situ evidence of the magnetospheric cusp of Jupiter from Juno spacecraft  measurements | Nature Communications">
            <a:extLst>
              <a:ext uri="{FF2B5EF4-FFF2-40B4-BE49-F238E27FC236}">
                <a16:creationId xmlns:a16="http://schemas.microsoft.com/office/drawing/2014/main" id="{5AD81728-68DB-419F-765B-58C11E48CB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9014" y="2592475"/>
            <a:ext cx="4329905" cy="342899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C230682-155A-DBF8-5BD0-4611C5C57AF0}"/>
              </a:ext>
            </a:extLst>
          </p:cNvPr>
          <p:cNvSpPr txBox="1"/>
          <p:nvPr/>
        </p:nvSpPr>
        <p:spPr>
          <a:xfrm>
            <a:off x="1862868" y="6021474"/>
            <a:ext cx="3063211" cy="369332"/>
          </a:xfrm>
          <a:prstGeom prst="rect">
            <a:avLst/>
          </a:prstGeom>
          <a:noFill/>
        </p:spPr>
        <p:txBody>
          <a:bodyPr wrap="none" rtlCol="0">
            <a:spAutoFit/>
          </a:bodyPr>
          <a:lstStyle/>
          <a:p>
            <a:r>
              <a:rPr lang="en-IN" dirty="0"/>
              <a:t>Nat </a:t>
            </a:r>
            <a:r>
              <a:rPr lang="en-IN" dirty="0" err="1"/>
              <a:t>commun</a:t>
            </a:r>
            <a:r>
              <a:rPr lang="en-IN" dirty="0"/>
              <a:t> 15, 6062 (2024)</a:t>
            </a:r>
          </a:p>
        </p:txBody>
      </p:sp>
      <p:sp>
        <p:nvSpPr>
          <p:cNvPr id="5" name="TextBox 4">
            <a:extLst>
              <a:ext uri="{FF2B5EF4-FFF2-40B4-BE49-F238E27FC236}">
                <a16:creationId xmlns:a16="http://schemas.microsoft.com/office/drawing/2014/main" id="{B8987EE5-FCF2-BB43-7BB0-DE010F9BA4DF}"/>
              </a:ext>
            </a:extLst>
          </p:cNvPr>
          <p:cNvSpPr txBox="1"/>
          <p:nvPr/>
        </p:nvSpPr>
        <p:spPr>
          <a:xfrm>
            <a:off x="8993223" y="3224699"/>
            <a:ext cx="6096000" cy="369332"/>
          </a:xfrm>
          <a:prstGeom prst="rect">
            <a:avLst/>
          </a:prstGeom>
          <a:noFill/>
        </p:spPr>
        <p:txBody>
          <a:bodyPr wrap="square">
            <a:spAutoFit/>
          </a:bodyPr>
          <a:lstStyle/>
          <a:p>
            <a:r>
              <a:rPr lang="en-IN" dirty="0"/>
              <a:t>Nat Commun 13, 4632 (2022)</a:t>
            </a:r>
          </a:p>
        </p:txBody>
      </p:sp>
      <p:sp>
        <p:nvSpPr>
          <p:cNvPr id="6" name="TextBox 5">
            <a:extLst>
              <a:ext uri="{FF2B5EF4-FFF2-40B4-BE49-F238E27FC236}">
                <a16:creationId xmlns:a16="http://schemas.microsoft.com/office/drawing/2014/main" id="{01E34281-53CD-779E-AE5F-3FA1A58809B2}"/>
              </a:ext>
            </a:extLst>
          </p:cNvPr>
          <p:cNvSpPr txBox="1"/>
          <p:nvPr/>
        </p:nvSpPr>
        <p:spPr>
          <a:xfrm>
            <a:off x="10273383" y="6488668"/>
            <a:ext cx="6096000" cy="369332"/>
          </a:xfrm>
          <a:prstGeom prst="rect">
            <a:avLst/>
          </a:prstGeom>
          <a:noFill/>
        </p:spPr>
        <p:txBody>
          <a:bodyPr wrap="square">
            <a:spAutoFit/>
          </a:bodyPr>
          <a:lstStyle/>
          <a:p>
            <a:r>
              <a:rPr lang="en-IN" dirty="0"/>
              <a:t>NASA (Caltech)</a:t>
            </a:r>
          </a:p>
        </p:txBody>
      </p:sp>
    </p:spTree>
    <p:extLst>
      <p:ext uri="{BB962C8B-B14F-4D97-AF65-F5344CB8AC3E}">
        <p14:creationId xmlns:p14="http://schemas.microsoft.com/office/powerpoint/2010/main" val="688358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1C1C8-DC97-4DA5-A462-185E083D2863}"/>
              </a:ext>
            </a:extLst>
          </p:cNvPr>
          <p:cNvSpPr>
            <a:spLocks noGrp="1"/>
          </p:cNvSpPr>
          <p:nvPr>
            <p:ph type="title"/>
          </p:nvPr>
        </p:nvSpPr>
        <p:spPr/>
        <p:txBody>
          <a:bodyPr/>
          <a:lstStyle/>
          <a:p>
            <a:r>
              <a:rPr lang="en-IN" dirty="0"/>
              <a:t>JUPITER’S CORE</a:t>
            </a:r>
          </a:p>
        </p:txBody>
      </p:sp>
      <p:pic>
        <p:nvPicPr>
          <p:cNvPr id="6" name="Picture 5">
            <a:extLst>
              <a:ext uri="{FF2B5EF4-FFF2-40B4-BE49-F238E27FC236}">
                <a16:creationId xmlns:a16="http://schemas.microsoft.com/office/drawing/2014/main" id="{3EFD7241-E31C-34B4-79A8-71909CA41EDB}"/>
              </a:ext>
            </a:extLst>
          </p:cNvPr>
          <p:cNvPicPr>
            <a:picLocks noChangeAspect="1"/>
          </p:cNvPicPr>
          <p:nvPr/>
        </p:nvPicPr>
        <p:blipFill>
          <a:blip r:embed="rId3"/>
          <a:stretch>
            <a:fillRect/>
          </a:stretch>
        </p:blipFill>
        <p:spPr>
          <a:xfrm>
            <a:off x="6882583" y="2013237"/>
            <a:ext cx="5132439" cy="3477082"/>
          </a:xfrm>
          <a:prstGeom prst="rect">
            <a:avLst/>
          </a:prstGeom>
        </p:spPr>
      </p:pic>
      <p:pic>
        <p:nvPicPr>
          <p:cNvPr id="8196" name="Picture 4" descr="Signs that Jupiter was mixed by a giant impact">
            <a:extLst>
              <a:ext uri="{FF2B5EF4-FFF2-40B4-BE49-F238E27FC236}">
                <a16:creationId xmlns:a16="http://schemas.microsoft.com/office/drawing/2014/main" id="{7AE58D65-1A3F-9D64-EF28-AB6358103D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8258" y="2041558"/>
            <a:ext cx="6094325" cy="342044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DDBB32A-D57C-8604-122A-F986B5E2726C}"/>
              </a:ext>
            </a:extLst>
          </p:cNvPr>
          <p:cNvSpPr txBox="1"/>
          <p:nvPr/>
        </p:nvSpPr>
        <p:spPr>
          <a:xfrm>
            <a:off x="6096000" y="5443536"/>
            <a:ext cx="868764" cy="369332"/>
          </a:xfrm>
          <a:prstGeom prst="rect">
            <a:avLst/>
          </a:prstGeom>
          <a:noFill/>
        </p:spPr>
        <p:txBody>
          <a:bodyPr wrap="none" rtlCol="0">
            <a:spAutoFit/>
          </a:bodyPr>
          <a:lstStyle/>
          <a:p>
            <a:r>
              <a:rPr lang="en-IN" dirty="0"/>
              <a:t>Nature</a:t>
            </a:r>
          </a:p>
        </p:txBody>
      </p:sp>
      <p:sp>
        <p:nvSpPr>
          <p:cNvPr id="5" name="TextBox 4">
            <a:extLst>
              <a:ext uri="{FF2B5EF4-FFF2-40B4-BE49-F238E27FC236}">
                <a16:creationId xmlns:a16="http://schemas.microsoft.com/office/drawing/2014/main" id="{B47AF565-C99C-D6CD-99CE-0CDC4335A948}"/>
              </a:ext>
            </a:extLst>
          </p:cNvPr>
          <p:cNvSpPr txBox="1"/>
          <p:nvPr/>
        </p:nvSpPr>
        <p:spPr>
          <a:xfrm>
            <a:off x="9448802" y="5487470"/>
            <a:ext cx="6096000" cy="369332"/>
          </a:xfrm>
          <a:prstGeom prst="rect">
            <a:avLst/>
          </a:prstGeom>
          <a:noFill/>
        </p:spPr>
        <p:txBody>
          <a:bodyPr wrap="square">
            <a:spAutoFit/>
          </a:bodyPr>
          <a:lstStyle/>
          <a:p>
            <a:r>
              <a:rPr lang="en-IN" dirty="0" err="1"/>
              <a:t>encyclopedia</a:t>
            </a:r>
            <a:r>
              <a:rPr lang="en-IN" dirty="0"/>
              <a:t> </a:t>
            </a:r>
            <a:r>
              <a:rPr lang="en-IN" dirty="0" err="1"/>
              <a:t>britannica</a:t>
            </a:r>
            <a:endParaRPr lang="en-IN" dirty="0"/>
          </a:p>
        </p:txBody>
      </p:sp>
    </p:spTree>
    <p:extLst>
      <p:ext uri="{BB962C8B-B14F-4D97-AF65-F5344CB8AC3E}">
        <p14:creationId xmlns:p14="http://schemas.microsoft.com/office/powerpoint/2010/main" val="17835992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D4B16-00F2-8AF7-0AC8-FAE45BC98D67}"/>
              </a:ext>
            </a:extLst>
          </p:cNvPr>
          <p:cNvSpPr>
            <a:spLocks noGrp="1"/>
          </p:cNvSpPr>
          <p:nvPr>
            <p:ph type="title"/>
          </p:nvPr>
        </p:nvSpPr>
        <p:spPr/>
        <p:txBody>
          <a:bodyPr/>
          <a:lstStyle/>
          <a:p>
            <a:r>
              <a:rPr lang="en-IN" dirty="0"/>
              <a:t>MAGNETIC FIELD</a:t>
            </a:r>
          </a:p>
        </p:txBody>
      </p:sp>
      <p:pic>
        <p:nvPicPr>
          <p:cNvPr id="8" name="Picture 7">
            <a:extLst>
              <a:ext uri="{FF2B5EF4-FFF2-40B4-BE49-F238E27FC236}">
                <a16:creationId xmlns:a16="http://schemas.microsoft.com/office/drawing/2014/main" id="{132F288D-94D4-55BE-2043-F2AD3D6733F3}"/>
              </a:ext>
            </a:extLst>
          </p:cNvPr>
          <p:cNvPicPr>
            <a:picLocks noChangeAspect="1"/>
          </p:cNvPicPr>
          <p:nvPr/>
        </p:nvPicPr>
        <p:blipFill>
          <a:blip r:embed="rId3"/>
          <a:stretch>
            <a:fillRect/>
          </a:stretch>
        </p:blipFill>
        <p:spPr>
          <a:xfrm>
            <a:off x="6578814" y="2131766"/>
            <a:ext cx="4774986" cy="3739056"/>
          </a:xfrm>
          <a:prstGeom prst="rect">
            <a:avLst/>
          </a:prstGeom>
        </p:spPr>
      </p:pic>
      <p:pic>
        <p:nvPicPr>
          <p:cNvPr id="9218" name="Picture 2" descr="Jupiter has at least three magnetosheath jets, finds Voyager 2 data study">
            <a:extLst>
              <a:ext uri="{FF2B5EF4-FFF2-40B4-BE49-F238E27FC236}">
                <a16:creationId xmlns:a16="http://schemas.microsoft.com/office/drawing/2014/main" id="{EF1AD381-758F-664E-7718-07EDB4456B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1037" y="1633277"/>
            <a:ext cx="3513653" cy="473603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834C517-C84B-E353-58E7-9DEDA7D517F8}"/>
              </a:ext>
            </a:extLst>
          </p:cNvPr>
          <p:cNvSpPr txBox="1"/>
          <p:nvPr/>
        </p:nvSpPr>
        <p:spPr>
          <a:xfrm>
            <a:off x="2533859" y="6362973"/>
            <a:ext cx="2516843" cy="307777"/>
          </a:xfrm>
          <a:prstGeom prst="rect">
            <a:avLst/>
          </a:prstGeom>
          <a:noFill/>
        </p:spPr>
        <p:txBody>
          <a:bodyPr wrap="none" rtlCol="0">
            <a:spAutoFit/>
          </a:bodyPr>
          <a:lstStyle/>
          <a:p>
            <a:r>
              <a:rPr lang="en-IN" sz="1400" dirty="0"/>
              <a:t>Nature  (Data by VOYAGRER 2)</a:t>
            </a:r>
          </a:p>
        </p:txBody>
      </p:sp>
      <p:sp>
        <p:nvSpPr>
          <p:cNvPr id="5" name="TextBox 4">
            <a:extLst>
              <a:ext uri="{FF2B5EF4-FFF2-40B4-BE49-F238E27FC236}">
                <a16:creationId xmlns:a16="http://schemas.microsoft.com/office/drawing/2014/main" id="{2490CB2A-DD17-DF85-7D9E-AFE3DCD96065}"/>
              </a:ext>
            </a:extLst>
          </p:cNvPr>
          <p:cNvSpPr txBox="1"/>
          <p:nvPr/>
        </p:nvSpPr>
        <p:spPr>
          <a:xfrm>
            <a:off x="8823960" y="5840342"/>
            <a:ext cx="6096000" cy="369332"/>
          </a:xfrm>
          <a:prstGeom prst="rect">
            <a:avLst/>
          </a:prstGeom>
          <a:noFill/>
        </p:spPr>
        <p:txBody>
          <a:bodyPr wrap="square">
            <a:spAutoFit/>
          </a:bodyPr>
          <a:lstStyle/>
          <a:p>
            <a:r>
              <a:rPr lang="en-IN" dirty="0"/>
              <a:t>(2005) </a:t>
            </a:r>
            <a:r>
              <a:rPr lang="en-IN" dirty="0" err="1"/>
              <a:t>PearsonEducation</a:t>
            </a:r>
            <a:endParaRPr lang="en-IN" dirty="0"/>
          </a:p>
        </p:txBody>
      </p:sp>
    </p:spTree>
    <p:extLst>
      <p:ext uri="{BB962C8B-B14F-4D97-AF65-F5344CB8AC3E}">
        <p14:creationId xmlns:p14="http://schemas.microsoft.com/office/powerpoint/2010/main" val="22146844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4DCDD-3FA0-CC6E-4F86-D8C942F15375}"/>
              </a:ext>
            </a:extLst>
          </p:cNvPr>
          <p:cNvSpPr>
            <a:spLocks noGrp="1"/>
          </p:cNvSpPr>
          <p:nvPr>
            <p:ph type="title"/>
          </p:nvPr>
        </p:nvSpPr>
        <p:spPr/>
        <p:txBody>
          <a:bodyPr/>
          <a:lstStyle/>
          <a:p>
            <a:r>
              <a:rPr lang="en-IN" dirty="0"/>
              <a:t>WHAT EXPLAINS THE “FUZZY CORE”</a:t>
            </a:r>
          </a:p>
        </p:txBody>
      </p:sp>
      <p:pic>
        <p:nvPicPr>
          <p:cNvPr id="6" name="Picture 5">
            <a:extLst>
              <a:ext uri="{FF2B5EF4-FFF2-40B4-BE49-F238E27FC236}">
                <a16:creationId xmlns:a16="http://schemas.microsoft.com/office/drawing/2014/main" id="{9A747110-F540-650C-7E27-8A98DD6DD278}"/>
              </a:ext>
            </a:extLst>
          </p:cNvPr>
          <p:cNvPicPr>
            <a:picLocks noChangeAspect="1"/>
          </p:cNvPicPr>
          <p:nvPr/>
        </p:nvPicPr>
        <p:blipFill>
          <a:blip r:embed="rId3"/>
          <a:stretch>
            <a:fillRect/>
          </a:stretch>
        </p:blipFill>
        <p:spPr>
          <a:xfrm>
            <a:off x="7032813" y="2038972"/>
            <a:ext cx="5159187" cy="3924640"/>
          </a:xfrm>
          <a:prstGeom prst="rect">
            <a:avLst/>
          </a:prstGeom>
        </p:spPr>
      </p:pic>
      <p:pic>
        <p:nvPicPr>
          <p:cNvPr id="10242" name="Picture 2" descr="Juno Discovers Jupiter's Dilute Core - Mission Juno">
            <a:extLst>
              <a:ext uri="{FF2B5EF4-FFF2-40B4-BE49-F238E27FC236}">
                <a16:creationId xmlns:a16="http://schemas.microsoft.com/office/drawing/2014/main" id="{B27C8D90-184E-4DA2-CC72-50DB78BA40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40" y="2183130"/>
            <a:ext cx="6977138" cy="3924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1986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67D4C-D533-86C0-0DB9-2AA259DAABF8}"/>
              </a:ext>
            </a:extLst>
          </p:cNvPr>
          <p:cNvSpPr>
            <a:spLocks noGrp="1"/>
          </p:cNvSpPr>
          <p:nvPr>
            <p:ph type="title"/>
          </p:nvPr>
        </p:nvSpPr>
        <p:spPr/>
        <p:txBody>
          <a:bodyPr/>
          <a:lstStyle/>
          <a:p>
            <a:r>
              <a:rPr lang="en-IN" dirty="0"/>
              <a:t>GALILEAN MOONS</a:t>
            </a:r>
          </a:p>
        </p:txBody>
      </p:sp>
      <p:pic>
        <p:nvPicPr>
          <p:cNvPr id="7" name="Picture 6">
            <a:extLst>
              <a:ext uri="{FF2B5EF4-FFF2-40B4-BE49-F238E27FC236}">
                <a16:creationId xmlns:a16="http://schemas.microsoft.com/office/drawing/2014/main" id="{307176B0-2BFD-C05A-719B-A570DD6E0C69}"/>
              </a:ext>
            </a:extLst>
          </p:cNvPr>
          <p:cNvPicPr>
            <a:picLocks noChangeAspect="1"/>
          </p:cNvPicPr>
          <p:nvPr/>
        </p:nvPicPr>
        <p:blipFill>
          <a:blip r:embed="rId3"/>
          <a:stretch>
            <a:fillRect/>
          </a:stretch>
        </p:blipFill>
        <p:spPr>
          <a:xfrm>
            <a:off x="1458386" y="2194560"/>
            <a:ext cx="9497698" cy="2905630"/>
          </a:xfrm>
          <a:prstGeom prst="rect">
            <a:avLst/>
          </a:prstGeom>
        </p:spPr>
      </p:pic>
      <p:sp>
        <p:nvSpPr>
          <p:cNvPr id="4" name="TextBox 3">
            <a:extLst>
              <a:ext uri="{FF2B5EF4-FFF2-40B4-BE49-F238E27FC236}">
                <a16:creationId xmlns:a16="http://schemas.microsoft.com/office/drawing/2014/main" id="{8F018AE3-52F5-EE09-1493-3DBA2C864AD9}"/>
              </a:ext>
            </a:extLst>
          </p:cNvPr>
          <p:cNvSpPr txBox="1"/>
          <p:nvPr/>
        </p:nvSpPr>
        <p:spPr>
          <a:xfrm>
            <a:off x="8625840" y="5419396"/>
            <a:ext cx="6096000" cy="369332"/>
          </a:xfrm>
          <a:prstGeom prst="rect">
            <a:avLst/>
          </a:prstGeom>
          <a:noFill/>
        </p:spPr>
        <p:txBody>
          <a:bodyPr wrap="square">
            <a:spAutoFit/>
          </a:bodyPr>
          <a:lstStyle/>
          <a:p>
            <a:r>
              <a:rPr lang="en-IN" dirty="0"/>
              <a:t>(2004) Pearson Education</a:t>
            </a:r>
          </a:p>
        </p:txBody>
      </p:sp>
    </p:spTree>
    <p:extLst>
      <p:ext uri="{BB962C8B-B14F-4D97-AF65-F5344CB8AC3E}">
        <p14:creationId xmlns:p14="http://schemas.microsoft.com/office/powerpoint/2010/main" val="7634878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3F7AD-37EF-FE60-6DE3-1D505ABE1A64}"/>
              </a:ext>
            </a:extLst>
          </p:cNvPr>
          <p:cNvSpPr>
            <a:spLocks noGrp="1"/>
          </p:cNvSpPr>
          <p:nvPr>
            <p:ph type="title"/>
          </p:nvPr>
        </p:nvSpPr>
        <p:spPr/>
        <p:txBody>
          <a:bodyPr/>
          <a:lstStyle/>
          <a:p>
            <a:r>
              <a:rPr lang="en-IN" dirty="0"/>
              <a:t>RINGS AND OTHER MOONS</a:t>
            </a:r>
          </a:p>
        </p:txBody>
      </p:sp>
      <p:pic>
        <p:nvPicPr>
          <p:cNvPr id="12291" name="Picture 3" descr="Webb images of Jupiter show auroras, rings, moons – Spaceflight Now">
            <a:extLst>
              <a:ext uri="{FF2B5EF4-FFF2-40B4-BE49-F238E27FC236}">
                <a16:creationId xmlns:a16="http://schemas.microsoft.com/office/drawing/2014/main" id="{C3ABD718-5FD1-0D88-4FF2-534093D3F2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4497" y="1380997"/>
            <a:ext cx="6082486" cy="5240594"/>
          </a:xfrm>
          <a:prstGeom prst="rect">
            <a:avLst/>
          </a:prstGeom>
          <a:noFill/>
          <a:extLst>
            <a:ext uri="{909E8E84-426E-40DD-AFC4-6F175D3DCCD1}">
              <a14:hiddenFill xmlns:a14="http://schemas.microsoft.com/office/drawing/2010/main">
                <a:solidFill>
                  <a:srgbClr val="FFFFFF"/>
                </a:solidFill>
              </a14:hiddenFill>
            </a:ext>
          </a:extLst>
        </p:spPr>
      </p:pic>
      <p:pic>
        <p:nvPicPr>
          <p:cNvPr id="11266" name="Picture 2" descr="Jupiter, Rings and Moons">
            <a:extLst>
              <a:ext uri="{FF2B5EF4-FFF2-40B4-BE49-F238E27FC236}">
                <a16:creationId xmlns:a16="http://schemas.microsoft.com/office/drawing/2014/main" id="{BECC696D-EC05-6578-438F-C8677C1B94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777" y="2020094"/>
            <a:ext cx="5593080" cy="372872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8BC3628-2CD7-F097-3DE6-D0A23A76C2E3}"/>
              </a:ext>
            </a:extLst>
          </p:cNvPr>
          <p:cNvSpPr txBox="1"/>
          <p:nvPr/>
        </p:nvSpPr>
        <p:spPr>
          <a:xfrm>
            <a:off x="2346960" y="5897880"/>
            <a:ext cx="995272" cy="369332"/>
          </a:xfrm>
          <a:prstGeom prst="rect">
            <a:avLst/>
          </a:prstGeom>
          <a:noFill/>
        </p:spPr>
        <p:txBody>
          <a:bodyPr wrap="none" rtlCol="0">
            <a:spAutoFit/>
          </a:bodyPr>
          <a:lstStyle/>
          <a:p>
            <a:r>
              <a:rPr lang="en-IN" dirty="0"/>
              <a:t>NASA IR</a:t>
            </a:r>
          </a:p>
        </p:txBody>
      </p:sp>
      <p:sp>
        <p:nvSpPr>
          <p:cNvPr id="4" name="TextBox 3">
            <a:extLst>
              <a:ext uri="{FF2B5EF4-FFF2-40B4-BE49-F238E27FC236}">
                <a16:creationId xmlns:a16="http://schemas.microsoft.com/office/drawing/2014/main" id="{9D196AE0-F43A-0894-EFDC-F9A55C4959D8}"/>
              </a:ext>
            </a:extLst>
          </p:cNvPr>
          <p:cNvSpPr txBox="1"/>
          <p:nvPr/>
        </p:nvSpPr>
        <p:spPr>
          <a:xfrm>
            <a:off x="8968983" y="6308209"/>
            <a:ext cx="6096000" cy="369332"/>
          </a:xfrm>
          <a:prstGeom prst="rect">
            <a:avLst/>
          </a:prstGeom>
          <a:noFill/>
        </p:spPr>
        <p:txBody>
          <a:bodyPr wrap="square">
            <a:spAutoFit/>
          </a:bodyPr>
          <a:lstStyle/>
          <a:p>
            <a:r>
              <a:rPr lang="en-IN" dirty="0"/>
              <a:t>NASA, ESA, Jupiter ESR team</a:t>
            </a:r>
          </a:p>
        </p:txBody>
      </p:sp>
    </p:spTree>
    <p:extLst>
      <p:ext uri="{BB962C8B-B14F-4D97-AF65-F5344CB8AC3E}">
        <p14:creationId xmlns:p14="http://schemas.microsoft.com/office/powerpoint/2010/main" val="1471899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51F04-309E-3776-0596-E970759F29A3}"/>
              </a:ext>
            </a:extLst>
          </p:cNvPr>
          <p:cNvSpPr>
            <a:spLocks noGrp="1"/>
          </p:cNvSpPr>
          <p:nvPr>
            <p:ph type="title"/>
          </p:nvPr>
        </p:nvSpPr>
        <p:spPr/>
        <p:txBody>
          <a:bodyPr/>
          <a:lstStyle/>
          <a:p>
            <a:r>
              <a:rPr lang="en-IN" dirty="0"/>
              <a:t>JUPITER TROJANS</a:t>
            </a:r>
          </a:p>
        </p:txBody>
      </p:sp>
      <p:pic>
        <p:nvPicPr>
          <p:cNvPr id="13315" name="Picture 3" descr="LEARN - What are Trojan asteroids? - Asteroid Day">
            <a:extLst>
              <a:ext uri="{FF2B5EF4-FFF2-40B4-BE49-F238E27FC236}">
                <a16:creationId xmlns:a16="http://schemas.microsoft.com/office/drawing/2014/main" id="{041383A4-2E67-4EA9-FA3E-E483646BED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7716" y="1790265"/>
            <a:ext cx="4422058" cy="442205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
            <a:extLst>
              <a:ext uri="{FF2B5EF4-FFF2-40B4-BE49-F238E27FC236}">
                <a16:creationId xmlns:a16="http://schemas.microsoft.com/office/drawing/2014/main" id="{1315B2B3-9A0C-6D64-830A-20C5618167E5}"/>
              </a:ext>
            </a:extLst>
          </p:cNvPr>
          <p:cNvSpPr>
            <a:spLocks noGrp="1" noChangeArrowheads="1"/>
          </p:cNvSpPr>
          <p:nvPr>
            <p:ph idx="1"/>
          </p:nvPr>
        </p:nvSpPr>
        <p:spPr bwMode="auto">
          <a:xfrm>
            <a:off x="838200" y="2708632"/>
            <a:ext cx="6329516"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Small bodies that share Jupiter’s orbit around the Sun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Confined to L4 and L5 Lagrange points, stable over billions of years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Primitive, volatile-rich composition preserves early Solar System material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Diverse physical and spectral properties indicate multiple origins or capture pathways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Key tracers of Jupiter’s migration and Solar System dynamical evolution</a:t>
            </a:r>
          </a:p>
        </p:txBody>
      </p:sp>
      <p:sp>
        <p:nvSpPr>
          <p:cNvPr id="4" name="TextBox 3">
            <a:extLst>
              <a:ext uri="{FF2B5EF4-FFF2-40B4-BE49-F238E27FC236}">
                <a16:creationId xmlns:a16="http://schemas.microsoft.com/office/drawing/2014/main" id="{0293646E-BF9A-6AFE-F9DB-5952FC5A1451}"/>
              </a:ext>
            </a:extLst>
          </p:cNvPr>
          <p:cNvSpPr txBox="1"/>
          <p:nvPr/>
        </p:nvSpPr>
        <p:spPr>
          <a:xfrm>
            <a:off x="9860280" y="6123543"/>
            <a:ext cx="6096000" cy="369332"/>
          </a:xfrm>
          <a:prstGeom prst="rect">
            <a:avLst/>
          </a:prstGeom>
          <a:noFill/>
        </p:spPr>
        <p:txBody>
          <a:bodyPr wrap="square">
            <a:spAutoFit/>
          </a:bodyPr>
          <a:lstStyle/>
          <a:p>
            <a:r>
              <a:rPr lang="en-IN" dirty="0"/>
              <a:t>asteroidday.org</a:t>
            </a:r>
          </a:p>
        </p:txBody>
      </p:sp>
    </p:spTree>
    <p:extLst>
      <p:ext uri="{BB962C8B-B14F-4D97-AF65-F5344CB8AC3E}">
        <p14:creationId xmlns:p14="http://schemas.microsoft.com/office/powerpoint/2010/main" val="1216827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7F314-B6F7-43F3-CDC4-1C18C60AF793}"/>
              </a:ext>
            </a:extLst>
          </p:cNvPr>
          <p:cNvSpPr>
            <a:spLocks noGrp="1"/>
          </p:cNvSpPr>
          <p:nvPr>
            <p:ph type="title"/>
          </p:nvPr>
        </p:nvSpPr>
        <p:spPr/>
        <p:txBody>
          <a:bodyPr/>
          <a:lstStyle/>
          <a:p>
            <a:r>
              <a:rPr lang="en-IN" dirty="0"/>
              <a:t>JUPITER’S INFLUENCE</a:t>
            </a:r>
          </a:p>
        </p:txBody>
      </p:sp>
      <p:pic>
        <p:nvPicPr>
          <p:cNvPr id="8" name="Picture 7">
            <a:extLst>
              <a:ext uri="{FF2B5EF4-FFF2-40B4-BE49-F238E27FC236}">
                <a16:creationId xmlns:a16="http://schemas.microsoft.com/office/drawing/2014/main" id="{BB2833C5-C7DB-8811-788E-3662B64530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32722" y="2248211"/>
            <a:ext cx="3506166" cy="3506166"/>
          </a:xfrm>
          <a:prstGeom prst="rect">
            <a:avLst/>
          </a:prstGeom>
        </p:spPr>
      </p:pic>
      <p:pic>
        <p:nvPicPr>
          <p:cNvPr id="13314" name="Picture 2" descr="During the solar system's chaotic era, Jupiter may have helped form Earth's  moon | Space">
            <a:extLst>
              <a:ext uri="{FF2B5EF4-FFF2-40B4-BE49-F238E27FC236}">
                <a16:creationId xmlns:a16="http://schemas.microsoft.com/office/drawing/2014/main" id="{4DF7FBD0-AC64-CE50-5245-507F18CBA7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349" y="1859915"/>
            <a:ext cx="8236373" cy="463296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F097E6F-2B37-42CB-61ED-9D9EB8955D94}"/>
              </a:ext>
            </a:extLst>
          </p:cNvPr>
          <p:cNvSpPr txBox="1"/>
          <p:nvPr/>
        </p:nvSpPr>
        <p:spPr>
          <a:xfrm>
            <a:off x="10385805" y="6123543"/>
            <a:ext cx="6096000" cy="369332"/>
          </a:xfrm>
          <a:prstGeom prst="rect">
            <a:avLst/>
          </a:prstGeom>
          <a:noFill/>
        </p:spPr>
        <p:txBody>
          <a:bodyPr wrap="square">
            <a:spAutoFit/>
          </a:bodyPr>
          <a:lstStyle/>
          <a:p>
            <a:r>
              <a:rPr lang="en-IN" dirty="0"/>
              <a:t>asteroidday.org</a:t>
            </a:r>
          </a:p>
        </p:txBody>
      </p:sp>
      <p:sp>
        <p:nvSpPr>
          <p:cNvPr id="4" name="TextBox 3">
            <a:extLst>
              <a:ext uri="{FF2B5EF4-FFF2-40B4-BE49-F238E27FC236}">
                <a16:creationId xmlns:a16="http://schemas.microsoft.com/office/drawing/2014/main" id="{8EBEEC6C-83E7-6C0C-EF1F-287DADB80ACE}"/>
              </a:ext>
            </a:extLst>
          </p:cNvPr>
          <p:cNvSpPr txBox="1"/>
          <p:nvPr/>
        </p:nvSpPr>
        <p:spPr>
          <a:xfrm>
            <a:off x="6042888" y="6123460"/>
            <a:ext cx="6096000" cy="369332"/>
          </a:xfrm>
          <a:prstGeom prst="rect">
            <a:avLst/>
          </a:prstGeom>
          <a:noFill/>
        </p:spPr>
        <p:txBody>
          <a:bodyPr wrap="square">
            <a:spAutoFit/>
          </a:bodyPr>
          <a:lstStyle/>
          <a:p>
            <a:r>
              <a:rPr lang="en-IN" dirty="0"/>
              <a:t>Johns Hopkins University</a:t>
            </a:r>
          </a:p>
        </p:txBody>
      </p:sp>
    </p:spTree>
    <p:extLst>
      <p:ext uri="{BB962C8B-B14F-4D97-AF65-F5344CB8AC3E}">
        <p14:creationId xmlns:p14="http://schemas.microsoft.com/office/powerpoint/2010/main" val="30907908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79EA5-A7F1-62BA-F47A-A1B6021CEC37}"/>
              </a:ext>
            </a:extLst>
          </p:cNvPr>
          <p:cNvSpPr>
            <a:spLocks noGrp="1"/>
          </p:cNvSpPr>
          <p:nvPr>
            <p:ph type="title"/>
          </p:nvPr>
        </p:nvSpPr>
        <p:spPr/>
        <p:txBody>
          <a:bodyPr/>
          <a:lstStyle/>
          <a:p>
            <a:r>
              <a:rPr lang="en-IN" dirty="0"/>
              <a:t>HELIUM RAIN</a:t>
            </a:r>
          </a:p>
        </p:txBody>
      </p:sp>
      <p:pic>
        <p:nvPicPr>
          <p:cNvPr id="1027" name="Picture 3" descr="Juno Spacecraft Probes the Source of Jupiter's Magnetic Field - Mission Juno">
            <a:extLst>
              <a:ext uri="{FF2B5EF4-FFF2-40B4-BE49-F238E27FC236}">
                <a16:creationId xmlns:a16="http://schemas.microsoft.com/office/drawing/2014/main" id="{A0F23CBB-23F5-02CB-C2F1-61B955D59F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7035" y="1027906"/>
            <a:ext cx="3515883" cy="5299587"/>
          </a:xfrm>
          <a:prstGeom prst="rect">
            <a:avLst/>
          </a:prstGeom>
          <a:noFill/>
          <a:extLst>
            <a:ext uri="{909E8E84-426E-40DD-AFC4-6F175D3DCCD1}">
              <a14:hiddenFill xmlns:a14="http://schemas.microsoft.com/office/drawing/2010/main">
                <a:solidFill>
                  <a:srgbClr val="FFFFFF"/>
                </a:solidFill>
              </a14:hiddenFill>
            </a:ext>
          </a:extLst>
        </p:spPr>
      </p:pic>
      <p:pic>
        <p:nvPicPr>
          <p:cNvPr id="14338" name="Picture 2" descr="Evolution of Jupiter and Saturn with helium rain - ADS">
            <a:extLst>
              <a:ext uri="{FF2B5EF4-FFF2-40B4-BE49-F238E27FC236}">
                <a16:creationId xmlns:a16="http://schemas.microsoft.com/office/drawing/2014/main" id="{8003167E-114C-8934-1CE6-5BA33196E6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9082" y="1690688"/>
            <a:ext cx="5993059" cy="44196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1603FA8-77D1-7B4C-67E8-DAC7668488CB}"/>
              </a:ext>
            </a:extLst>
          </p:cNvPr>
          <p:cNvSpPr txBox="1"/>
          <p:nvPr/>
        </p:nvSpPr>
        <p:spPr>
          <a:xfrm>
            <a:off x="5198218" y="6110288"/>
            <a:ext cx="6096000" cy="338554"/>
          </a:xfrm>
          <a:prstGeom prst="rect">
            <a:avLst/>
          </a:prstGeom>
          <a:noFill/>
        </p:spPr>
        <p:txBody>
          <a:bodyPr wrap="square">
            <a:spAutoFit/>
          </a:bodyPr>
          <a:lstStyle/>
          <a:p>
            <a:r>
              <a:rPr lang="en-IN" sz="1600" dirty="0"/>
              <a:t>A&amp;A 689, A15 (2024)</a:t>
            </a:r>
          </a:p>
        </p:txBody>
      </p:sp>
      <p:sp>
        <p:nvSpPr>
          <p:cNvPr id="5" name="TextBox 4">
            <a:extLst>
              <a:ext uri="{FF2B5EF4-FFF2-40B4-BE49-F238E27FC236}">
                <a16:creationId xmlns:a16="http://schemas.microsoft.com/office/drawing/2014/main" id="{978E66E2-55DD-3CF0-5930-9964C7080ED6}"/>
              </a:ext>
            </a:extLst>
          </p:cNvPr>
          <p:cNvSpPr txBox="1"/>
          <p:nvPr/>
        </p:nvSpPr>
        <p:spPr>
          <a:xfrm>
            <a:off x="8915400" y="6308209"/>
            <a:ext cx="6096000" cy="369332"/>
          </a:xfrm>
          <a:prstGeom prst="rect">
            <a:avLst/>
          </a:prstGeom>
          <a:noFill/>
        </p:spPr>
        <p:txBody>
          <a:bodyPr wrap="square">
            <a:spAutoFit/>
          </a:bodyPr>
          <a:lstStyle/>
          <a:p>
            <a:r>
              <a:rPr lang="en-IN" dirty="0"/>
              <a:t>missionjuno.swri.edu</a:t>
            </a:r>
          </a:p>
        </p:txBody>
      </p:sp>
    </p:spTree>
    <p:extLst>
      <p:ext uri="{BB962C8B-B14F-4D97-AF65-F5344CB8AC3E}">
        <p14:creationId xmlns:p14="http://schemas.microsoft.com/office/powerpoint/2010/main" val="30771202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6C7BD-0045-120D-2BA6-6D3973F592AF}"/>
              </a:ext>
            </a:extLst>
          </p:cNvPr>
          <p:cNvSpPr>
            <a:spLocks noGrp="1"/>
          </p:cNvSpPr>
          <p:nvPr>
            <p:ph type="title"/>
          </p:nvPr>
        </p:nvSpPr>
        <p:spPr/>
        <p:txBody>
          <a:bodyPr/>
          <a:lstStyle/>
          <a:p>
            <a:r>
              <a:rPr lang="en-IN" dirty="0"/>
              <a:t>CONCLUSION</a:t>
            </a:r>
          </a:p>
        </p:txBody>
      </p:sp>
      <p:pic>
        <p:nvPicPr>
          <p:cNvPr id="7" name="Picture 6">
            <a:extLst>
              <a:ext uri="{FF2B5EF4-FFF2-40B4-BE49-F238E27FC236}">
                <a16:creationId xmlns:a16="http://schemas.microsoft.com/office/drawing/2014/main" id="{E2AC533B-412D-E251-234F-F8A5CEB48714}"/>
              </a:ext>
            </a:extLst>
          </p:cNvPr>
          <p:cNvPicPr>
            <a:picLocks noChangeAspect="1"/>
          </p:cNvPicPr>
          <p:nvPr/>
        </p:nvPicPr>
        <p:blipFill>
          <a:blip r:embed="rId3"/>
          <a:stretch>
            <a:fillRect/>
          </a:stretch>
        </p:blipFill>
        <p:spPr>
          <a:xfrm>
            <a:off x="7330440" y="2123677"/>
            <a:ext cx="4168501" cy="3063505"/>
          </a:xfrm>
          <a:prstGeom prst="rect">
            <a:avLst/>
          </a:prstGeom>
        </p:spPr>
      </p:pic>
      <p:sp>
        <p:nvSpPr>
          <p:cNvPr id="3" name="Rectangle 1">
            <a:extLst>
              <a:ext uri="{FF2B5EF4-FFF2-40B4-BE49-F238E27FC236}">
                <a16:creationId xmlns:a16="http://schemas.microsoft.com/office/drawing/2014/main" id="{C33F67B7-8F7C-E3FE-3B41-CC93ECFF873D}"/>
              </a:ext>
            </a:extLst>
          </p:cNvPr>
          <p:cNvSpPr>
            <a:spLocks noGrp="1" noChangeArrowheads="1"/>
          </p:cNvSpPr>
          <p:nvPr>
            <p:ph idx="1"/>
          </p:nvPr>
        </p:nvSpPr>
        <p:spPr bwMode="auto">
          <a:xfrm>
            <a:off x="441960" y="2708149"/>
            <a:ext cx="688848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Jupiter is a dynamically evolving system, revealed by decades of multi-instrument observations.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Gravity, magnetic, and atmospheric data converge on a complex interior with a diluted core and deep differential rotation, tightly coupled to global dynamics.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Jupiter acts as an active architect of the Solar System, providing a fundamental benchmark for gas-giant and exoplanet evolution.</a:t>
            </a:r>
          </a:p>
        </p:txBody>
      </p:sp>
    </p:spTree>
    <p:extLst>
      <p:ext uri="{BB962C8B-B14F-4D97-AF65-F5344CB8AC3E}">
        <p14:creationId xmlns:p14="http://schemas.microsoft.com/office/powerpoint/2010/main" val="28523226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9AEC6-531B-B26E-C197-97B1416918A2}"/>
            </a:ext>
          </a:extLst>
        </p:cNvPr>
        <p:cNvGrpSpPr/>
        <p:nvPr/>
      </p:nvGrpSpPr>
      <p:grpSpPr>
        <a:xfrm>
          <a:off x="0" y="0"/>
          <a:ext cx="0" cy="0"/>
          <a:chOff x="0" y="0"/>
          <a:chExt cx="0" cy="0"/>
        </a:xfrm>
      </p:grpSpPr>
      <p:pic>
        <p:nvPicPr>
          <p:cNvPr id="4" name="Picture 2" descr="Jupiter returns as king of the night sky">
            <a:extLst>
              <a:ext uri="{FF2B5EF4-FFF2-40B4-BE49-F238E27FC236}">
                <a16:creationId xmlns:a16="http://schemas.microsoft.com/office/drawing/2014/main" id="{71013397-1EBB-F467-2C33-0B3099DD0C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3721" y="0"/>
            <a:ext cx="13922664"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D14AE25-F428-1AC6-F9FC-1C9AE553A44D}"/>
              </a:ext>
            </a:extLst>
          </p:cNvPr>
          <p:cNvSpPr>
            <a:spLocks noGrp="1"/>
          </p:cNvSpPr>
          <p:nvPr>
            <p:ph type="ctrTitle"/>
          </p:nvPr>
        </p:nvSpPr>
        <p:spPr>
          <a:xfrm>
            <a:off x="1524000" y="874100"/>
            <a:ext cx="9144000" cy="1355366"/>
          </a:xfrm>
        </p:spPr>
        <p:txBody>
          <a:bodyPr/>
          <a:lstStyle/>
          <a:p>
            <a:r>
              <a:rPr lang="en-IN" dirty="0">
                <a:solidFill>
                  <a:schemeClr val="tx1">
                    <a:lumMod val="75000"/>
                  </a:schemeClr>
                </a:solidFill>
                <a:latin typeface="Bookman Old Style" panose="02050604050505020204" pitchFamily="18" charset="0"/>
              </a:rPr>
              <a:t>THANK YOU</a:t>
            </a:r>
          </a:p>
        </p:txBody>
      </p:sp>
      <p:sp>
        <p:nvSpPr>
          <p:cNvPr id="3" name="Subtitle 2">
            <a:extLst>
              <a:ext uri="{FF2B5EF4-FFF2-40B4-BE49-F238E27FC236}">
                <a16:creationId xmlns:a16="http://schemas.microsoft.com/office/drawing/2014/main" id="{F4648B58-3E68-69A1-8C54-93C416A89536}"/>
              </a:ext>
            </a:extLst>
          </p:cNvPr>
          <p:cNvSpPr>
            <a:spLocks noGrp="1"/>
          </p:cNvSpPr>
          <p:nvPr>
            <p:ph type="subTitle" idx="1"/>
          </p:nvPr>
        </p:nvSpPr>
        <p:spPr>
          <a:xfrm>
            <a:off x="1" y="4329625"/>
            <a:ext cx="12191999" cy="2257987"/>
          </a:xfrm>
        </p:spPr>
        <p:txBody>
          <a:bodyPr/>
          <a:lstStyle/>
          <a:p>
            <a:endParaRPr lang="en-IN" dirty="0">
              <a:solidFill>
                <a:schemeClr val="tx1">
                  <a:lumMod val="75000"/>
                </a:schemeClr>
              </a:solidFill>
              <a:latin typeface="Bookman Old Style" panose="02050604050505020204" pitchFamily="18" charset="0"/>
            </a:endParaRPr>
          </a:p>
          <a:p>
            <a:r>
              <a:rPr lang="en-IN" dirty="0">
                <a:solidFill>
                  <a:schemeClr val="tx1">
                    <a:lumMod val="75000"/>
                  </a:schemeClr>
                </a:solidFill>
                <a:latin typeface="Bookman Old Style" panose="02050604050505020204" pitchFamily="18" charset="0"/>
              </a:rPr>
              <a:t>AND THE BRIGHT STAR YOU SEE IN THE NIGHT SKY, IS YET A PLANET!</a:t>
            </a:r>
          </a:p>
          <a:p>
            <a:pPr algn="r"/>
            <a:endParaRPr lang="en-IN" dirty="0">
              <a:solidFill>
                <a:schemeClr val="bg2">
                  <a:lumMod val="50000"/>
                </a:schemeClr>
              </a:solidFill>
              <a:latin typeface="Bookman Old Style" panose="02050604050505020204" pitchFamily="18" charset="0"/>
            </a:endParaRPr>
          </a:p>
          <a:p>
            <a:r>
              <a:rPr lang="en-IN" dirty="0">
                <a:solidFill>
                  <a:schemeClr val="bg2">
                    <a:lumMod val="50000"/>
                  </a:schemeClr>
                </a:solidFill>
                <a:latin typeface="Bookman Old Style" panose="02050604050505020204" pitchFamily="18" charset="0"/>
              </a:rPr>
              <a:t>									 By- Neelesh Pandey </a:t>
            </a:r>
          </a:p>
        </p:txBody>
      </p:sp>
    </p:spTree>
    <p:extLst>
      <p:ext uri="{BB962C8B-B14F-4D97-AF65-F5344CB8AC3E}">
        <p14:creationId xmlns:p14="http://schemas.microsoft.com/office/powerpoint/2010/main" val="42267964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E26D8-D882-FE67-1B94-5BE87D1CDEC2}"/>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ED546C4B-97D5-7462-7711-40E884D6D905}"/>
              </a:ext>
            </a:extLst>
          </p:cNvPr>
          <p:cNvSpPr>
            <a:spLocks noGrp="1"/>
          </p:cNvSpPr>
          <p:nvPr>
            <p:ph idx="1"/>
          </p:nvPr>
        </p:nvSpPr>
        <p:spPr>
          <a:xfrm>
            <a:off x="838200" y="1573571"/>
            <a:ext cx="5365955" cy="4919304"/>
          </a:xfrm>
        </p:spPr>
        <p:txBody>
          <a:bodyPr>
            <a:normAutofit fontScale="32500" lnSpcReduction="20000"/>
          </a:bodyPr>
          <a:lstStyle/>
          <a:p>
            <a:r>
              <a:rPr lang="en-IN" dirty="0">
                <a:latin typeface="Times New Roman" panose="02020603050405020304" pitchFamily="18" charset="0"/>
                <a:cs typeface="Times New Roman" panose="02020603050405020304" pitchFamily="18" charset="0"/>
              </a:rPr>
              <a:t>https://spaceplace.nasa.gov/all-about-jupiter/en/</a:t>
            </a:r>
          </a:p>
          <a:p>
            <a:r>
              <a:rPr lang="en-IN" dirty="0">
                <a:latin typeface="Times New Roman" panose="02020603050405020304" pitchFamily="18" charset="0"/>
                <a:cs typeface="Times New Roman" panose="02020603050405020304" pitchFamily="18" charset="0"/>
              </a:rPr>
              <a:t>https://www.esa.int/ESA_Multimedia/Images/2018/08/Beta_Pictoris_system</a:t>
            </a:r>
          </a:p>
          <a:p>
            <a:r>
              <a:rPr lang="en-IN" dirty="0">
                <a:latin typeface="Times New Roman" panose="02020603050405020304" pitchFamily="18" charset="0"/>
                <a:cs typeface="Times New Roman" panose="02020603050405020304" pitchFamily="18" charset="0"/>
              </a:rPr>
              <a:t>https://www.missionjuno.swri.edu/origin?show=hs_origin_story_a-recipe-for-jupiter</a:t>
            </a:r>
          </a:p>
          <a:p>
            <a:r>
              <a:rPr lang="en-IN" dirty="0">
                <a:latin typeface="Times New Roman" panose="02020603050405020304" pitchFamily="18" charset="0"/>
                <a:cs typeface="Times New Roman" panose="02020603050405020304" pitchFamily="18" charset="0"/>
              </a:rPr>
              <a:t>https://www.nature.com/articles/nature10201</a:t>
            </a:r>
          </a:p>
          <a:p>
            <a:r>
              <a:rPr lang="en-IN" dirty="0">
                <a:latin typeface="Times New Roman" panose="02020603050405020304" pitchFamily="18" charset="0"/>
                <a:cs typeface="Times New Roman" panose="02020603050405020304" pitchFamily="18" charset="0"/>
              </a:rPr>
              <a:t>https://science.nasa.gov/asset/hubble/comet-shoemaker-levys-first-fragment-impacts-with-jupiter/</a:t>
            </a:r>
          </a:p>
          <a:p>
            <a:r>
              <a:rPr lang="en-IN" dirty="0">
                <a:latin typeface="Times New Roman" panose="02020603050405020304" pitchFamily="18" charset="0"/>
                <a:cs typeface="Times New Roman" panose="02020603050405020304" pitchFamily="18" charset="0"/>
              </a:rPr>
              <a:t>https://www.scientificamerican.com/article/juno-delivers-stunning-new-views-of-great-red-spot/</a:t>
            </a:r>
          </a:p>
          <a:p>
            <a:r>
              <a:rPr lang="en-IN" dirty="0">
                <a:latin typeface="Times New Roman" panose="02020603050405020304" pitchFamily="18" charset="0"/>
                <a:cs typeface="Times New Roman" panose="02020603050405020304" pitchFamily="18" charset="0"/>
              </a:rPr>
              <a:t>https://www.scientificamerican.com/article/how-nasas-juno-probe-changed-everything-we-know-about-jupiter/</a:t>
            </a:r>
          </a:p>
          <a:p>
            <a:r>
              <a:rPr lang="en-IN" dirty="0">
                <a:latin typeface="Times New Roman" panose="02020603050405020304" pitchFamily="18" charset="0"/>
                <a:cs typeface="Times New Roman" panose="02020603050405020304" pitchFamily="18" charset="0"/>
              </a:rPr>
              <a:t>https://science.nasa.gov/mission/juno/</a:t>
            </a:r>
          </a:p>
          <a:p>
            <a:r>
              <a:rPr lang="en-IN" dirty="0">
                <a:latin typeface="Times New Roman" panose="02020603050405020304" pitchFamily="18" charset="0"/>
                <a:cs typeface="Times New Roman" panose="02020603050405020304" pitchFamily="18" charset="0"/>
              </a:rPr>
              <a:t>https://www.britannica.com/place/Jupiter-planet/The-interior</a:t>
            </a:r>
          </a:p>
          <a:p>
            <a:r>
              <a:rPr lang="en-IN" dirty="0">
                <a:latin typeface="Times New Roman" panose="02020603050405020304" pitchFamily="18" charset="0"/>
                <a:cs typeface="Times New Roman" panose="02020603050405020304" pitchFamily="18" charset="0"/>
              </a:rPr>
              <a:t>https://lasp.colorado.edu/outerplanets/giantplanets_magnetospheres.php</a:t>
            </a:r>
          </a:p>
          <a:p>
            <a:r>
              <a:rPr lang="en-IN" dirty="0">
                <a:latin typeface="Times New Roman" panose="02020603050405020304" pitchFamily="18" charset="0"/>
                <a:cs typeface="Times New Roman" panose="02020603050405020304" pitchFamily="18" charset="0"/>
              </a:rPr>
              <a:t>https://lasp.colorado.edu/outerplanets/moons_galilean.php</a:t>
            </a:r>
          </a:p>
          <a:p>
            <a:r>
              <a:rPr lang="en-IN" dirty="0">
                <a:latin typeface="Times New Roman" panose="02020603050405020304" pitchFamily="18" charset="0"/>
                <a:cs typeface="Times New Roman" panose="02020603050405020304" pitchFamily="18" charset="0"/>
              </a:rPr>
              <a:t>https://scitechdaily.com/whats-really-inside-jupiter/</a:t>
            </a:r>
          </a:p>
          <a:p>
            <a:r>
              <a:rPr lang="en-IN" dirty="0">
                <a:latin typeface="Times New Roman" panose="02020603050405020304" pitchFamily="18" charset="0"/>
                <a:cs typeface="Times New Roman" panose="02020603050405020304" pitchFamily="18" charset="0"/>
              </a:rPr>
              <a:t>https://spaceflightnow.com/2022/08/22/webb-images-of-jupiter-show-auroras-rings-moons/</a:t>
            </a:r>
          </a:p>
          <a:p>
            <a:r>
              <a:rPr lang="en-IN" dirty="0">
                <a:latin typeface="Times New Roman" panose="02020603050405020304" pitchFamily="18" charset="0"/>
                <a:cs typeface="Times New Roman" panose="02020603050405020304" pitchFamily="18" charset="0"/>
              </a:rPr>
              <a:t>https://asteroidday.org/resources/asteroid-learning/learn-what-are-trojan-asteroids/</a:t>
            </a:r>
          </a:p>
          <a:p>
            <a:r>
              <a:rPr lang="en-IN" dirty="0">
                <a:latin typeface="Times New Roman" panose="02020603050405020304" pitchFamily="18" charset="0"/>
                <a:cs typeface="Times New Roman" panose="02020603050405020304" pitchFamily="18" charset="0"/>
              </a:rPr>
              <a:t>news.uzh.ch</a:t>
            </a:r>
          </a:p>
          <a:p>
            <a:r>
              <a:rPr lang="en-IN" dirty="0" err="1"/>
              <a:t>Sekanina</a:t>
            </a:r>
            <a:r>
              <a:rPr lang="en-IN" dirty="0"/>
              <a:t> et al. (1994)</a:t>
            </a:r>
          </a:p>
          <a:p>
            <a:r>
              <a:rPr lang="en-US" dirty="0"/>
              <a:t>F. </a:t>
            </a:r>
            <a:r>
              <a:rPr lang="en-US" dirty="0" err="1"/>
              <a:t>Bagenal</a:t>
            </a:r>
            <a:r>
              <a:rPr lang="en-US" dirty="0"/>
              <a:t>, T. Dowling, W. McKinnon (2004, Cambridge University Press)</a:t>
            </a:r>
          </a:p>
          <a:p>
            <a:r>
              <a:rPr lang="en-US" dirty="0"/>
              <a:t>Xu, Y., </a:t>
            </a:r>
            <a:r>
              <a:rPr lang="en-US" dirty="0" err="1"/>
              <a:t>Arridge</a:t>
            </a:r>
            <a:r>
              <a:rPr lang="en-US" dirty="0"/>
              <a:t>, C.S., Yao, Z.H. et al. In situ evidence of the magnetospheric cusp of Jupiter from Juno spacecraft measurements. Nat Commun 15, 6062 (2024). https://doi.org/10.1038/s41467-024-50449</a:t>
            </a:r>
            <a:endParaRPr lang="en-IN" dirty="0"/>
          </a:p>
          <a:p>
            <a:r>
              <a:rPr lang="en-US" dirty="0">
                <a:latin typeface="Times New Roman" panose="02020603050405020304" pitchFamily="18" charset="0"/>
                <a:cs typeface="Times New Roman" panose="02020603050405020304" pitchFamily="18" charset="0"/>
              </a:rPr>
              <a:t>Durante, D., Guillot, T., </a:t>
            </a:r>
            <a:r>
              <a:rPr lang="en-US" dirty="0" err="1">
                <a:latin typeface="Times New Roman" panose="02020603050405020304" pitchFamily="18" charset="0"/>
                <a:cs typeface="Times New Roman" panose="02020603050405020304" pitchFamily="18" charset="0"/>
              </a:rPr>
              <a:t>Iess</a:t>
            </a:r>
            <a:r>
              <a:rPr lang="en-US" dirty="0">
                <a:latin typeface="Times New Roman" panose="02020603050405020304" pitchFamily="18" charset="0"/>
                <a:cs typeface="Times New Roman" panose="02020603050405020304" pitchFamily="18" charset="0"/>
              </a:rPr>
              <a:t>, L. et al. Juno spacecraft gravity measurements provide evidence for normal modes of Jupiter. Nat Commun 13, 4632 (2022). https://doi.org/10.1038/s41467-022-32299-9</a:t>
            </a: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7DDBACEF-1BC9-7E3C-7F07-4F258A8C9FFC}"/>
              </a:ext>
            </a:extLst>
          </p:cNvPr>
          <p:cNvSpPr txBox="1">
            <a:spLocks/>
          </p:cNvSpPr>
          <p:nvPr/>
        </p:nvSpPr>
        <p:spPr>
          <a:xfrm>
            <a:off x="7128386" y="1027906"/>
            <a:ext cx="5987845" cy="49193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latin typeface="Times New Roman" panose="02020603050405020304" pitchFamily="18" charset="0"/>
                <a:cs typeface="Times New Roman" panose="02020603050405020304" pitchFamily="18" charset="0"/>
              </a:rPr>
              <a:t>Atreya, S. K. et al. (2016).</a:t>
            </a:r>
            <a:br>
              <a:rPr lang="en-US" sz="800" dirty="0">
                <a:latin typeface="Times New Roman" panose="02020603050405020304" pitchFamily="18" charset="0"/>
                <a:cs typeface="Times New Roman" panose="02020603050405020304" pitchFamily="18" charset="0"/>
              </a:rPr>
            </a:br>
            <a:r>
              <a:rPr lang="en-US" sz="800" i="1" dirty="0">
                <a:latin typeface="Times New Roman" panose="02020603050405020304" pitchFamily="18" charset="0"/>
                <a:cs typeface="Times New Roman" panose="02020603050405020304" pitchFamily="18" charset="0"/>
              </a:rPr>
              <a:t>Deep atmosphere composition, structure, origin, and evolution of Jupiter.</a:t>
            </a:r>
            <a:br>
              <a:rPr lang="en-US" sz="800" dirty="0">
                <a:latin typeface="Times New Roman" panose="02020603050405020304" pitchFamily="18" charset="0"/>
                <a:cs typeface="Times New Roman" panose="02020603050405020304" pitchFamily="18" charset="0"/>
              </a:rPr>
            </a:br>
            <a:r>
              <a:rPr lang="en-US" sz="800" b="1" dirty="0">
                <a:latin typeface="Times New Roman" panose="02020603050405020304" pitchFamily="18" charset="0"/>
                <a:cs typeface="Times New Roman" panose="02020603050405020304" pitchFamily="18" charset="0"/>
              </a:rPr>
              <a:t>Space Science Reviews, 213</a:t>
            </a:r>
            <a:r>
              <a:rPr lang="en-US" sz="800" dirty="0">
                <a:latin typeface="Times New Roman" panose="02020603050405020304" pitchFamily="18" charset="0"/>
                <a:cs typeface="Times New Roman" panose="02020603050405020304" pitchFamily="18" charset="0"/>
              </a:rPr>
              <a:t>, 451–476.</a:t>
            </a:r>
          </a:p>
          <a:p>
            <a:r>
              <a:rPr lang="en-US" sz="800" dirty="0" err="1">
                <a:latin typeface="Times New Roman" panose="02020603050405020304" pitchFamily="18" charset="0"/>
                <a:cs typeface="Times New Roman" panose="02020603050405020304" pitchFamily="18" charset="0"/>
              </a:rPr>
              <a:t>Connerney</a:t>
            </a:r>
            <a:r>
              <a:rPr lang="en-US" sz="800" dirty="0">
                <a:latin typeface="Times New Roman" panose="02020603050405020304" pitchFamily="18" charset="0"/>
                <a:cs typeface="Times New Roman" panose="02020603050405020304" pitchFamily="18" charset="0"/>
              </a:rPr>
              <a:t>, J. E. P. et al. (2018).</a:t>
            </a:r>
            <a:br>
              <a:rPr lang="en-US" sz="800" dirty="0">
                <a:latin typeface="Times New Roman" panose="02020603050405020304" pitchFamily="18" charset="0"/>
                <a:cs typeface="Times New Roman" panose="02020603050405020304" pitchFamily="18" charset="0"/>
              </a:rPr>
            </a:br>
            <a:r>
              <a:rPr lang="en-US" sz="800" i="1" dirty="0">
                <a:latin typeface="Times New Roman" panose="02020603050405020304" pitchFamily="18" charset="0"/>
                <a:cs typeface="Times New Roman" panose="02020603050405020304" pitchFamily="18" charset="0"/>
              </a:rPr>
              <a:t>A new model of Jupiter’s magnetic field from Juno’s first nine orbits.</a:t>
            </a:r>
            <a:br>
              <a:rPr lang="en-US" sz="800" dirty="0">
                <a:latin typeface="Times New Roman" panose="02020603050405020304" pitchFamily="18" charset="0"/>
                <a:cs typeface="Times New Roman" panose="02020603050405020304" pitchFamily="18" charset="0"/>
              </a:rPr>
            </a:br>
            <a:r>
              <a:rPr lang="en-US" sz="800" b="1" dirty="0">
                <a:latin typeface="Times New Roman" panose="02020603050405020304" pitchFamily="18" charset="0"/>
                <a:cs typeface="Times New Roman" panose="02020603050405020304" pitchFamily="18" charset="0"/>
              </a:rPr>
              <a:t>Geophysical Research Letters, 45</a:t>
            </a:r>
            <a:r>
              <a:rPr lang="en-US" sz="800" dirty="0">
                <a:latin typeface="Times New Roman" panose="02020603050405020304" pitchFamily="18" charset="0"/>
                <a:cs typeface="Times New Roman" panose="02020603050405020304" pitchFamily="18" charset="0"/>
              </a:rPr>
              <a:t>, 2590–2596.</a:t>
            </a:r>
          </a:p>
          <a:p>
            <a:r>
              <a:rPr lang="en-US" sz="800" dirty="0">
                <a:latin typeface="Times New Roman" panose="02020603050405020304" pitchFamily="18" charset="0"/>
                <a:cs typeface="Times New Roman" panose="02020603050405020304" pitchFamily="18" charset="0"/>
              </a:rPr>
              <a:t>Debras, F., &amp; Chabrier, G. (2019).</a:t>
            </a:r>
            <a:br>
              <a:rPr lang="en-US" sz="800" dirty="0">
                <a:latin typeface="Times New Roman" panose="02020603050405020304" pitchFamily="18" charset="0"/>
                <a:cs typeface="Times New Roman" panose="02020603050405020304" pitchFamily="18" charset="0"/>
              </a:rPr>
            </a:br>
            <a:r>
              <a:rPr lang="en-US" sz="800" i="1" dirty="0">
                <a:latin typeface="Times New Roman" panose="02020603050405020304" pitchFamily="18" charset="0"/>
                <a:cs typeface="Times New Roman" panose="02020603050405020304" pitchFamily="18" charset="0"/>
              </a:rPr>
              <a:t>New models of Jupiter in the context of Juno and Galileo.</a:t>
            </a:r>
            <a:br>
              <a:rPr lang="en-US" sz="800" dirty="0">
                <a:latin typeface="Times New Roman" panose="02020603050405020304" pitchFamily="18" charset="0"/>
                <a:cs typeface="Times New Roman" panose="02020603050405020304" pitchFamily="18" charset="0"/>
              </a:rPr>
            </a:br>
            <a:r>
              <a:rPr lang="en-US" sz="800" b="1" dirty="0">
                <a:latin typeface="Times New Roman" panose="02020603050405020304" pitchFamily="18" charset="0"/>
                <a:cs typeface="Times New Roman" panose="02020603050405020304" pitchFamily="18" charset="0"/>
              </a:rPr>
              <a:t>The Astrophysical Journal, 872</a:t>
            </a:r>
            <a:r>
              <a:rPr lang="en-US" sz="800" dirty="0">
                <a:latin typeface="Times New Roman" panose="02020603050405020304" pitchFamily="18" charset="0"/>
                <a:cs typeface="Times New Roman" panose="02020603050405020304" pitchFamily="18" charset="0"/>
              </a:rPr>
              <a:t>, 100.</a:t>
            </a:r>
          </a:p>
          <a:p>
            <a:r>
              <a:rPr lang="en-US" sz="800" dirty="0">
                <a:latin typeface="Times New Roman" panose="02020603050405020304" pitchFamily="18" charset="0"/>
                <a:cs typeface="Times New Roman" panose="02020603050405020304" pitchFamily="18" charset="0"/>
              </a:rPr>
              <a:t>Bolton, S. J. et al. (2017).</a:t>
            </a:r>
            <a:br>
              <a:rPr lang="en-US" sz="800" dirty="0">
                <a:latin typeface="Times New Roman" panose="02020603050405020304" pitchFamily="18" charset="0"/>
                <a:cs typeface="Times New Roman" panose="02020603050405020304" pitchFamily="18" charset="0"/>
              </a:rPr>
            </a:br>
            <a:r>
              <a:rPr lang="en-US" sz="800" i="1" dirty="0">
                <a:latin typeface="Times New Roman" panose="02020603050405020304" pitchFamily="18" charset="0"/>
                <a:cs typeface="Times New Roman" panose="02020603050405020304" pitchFamily="18" charset="0"/>
              </a:rPr>
              <a:t>Jupiter’s interior and deep atmosphere: The initial pole-to-pole passes of the Juno spacecraft.</a:t>
            </a:r>
            <a:br>
              <a:rPr lang="en-US" sz="800" dirty="0">
                <a:latin typeface="Times New Roman" panose="02020603050405020304" pitchFamily="18" charset="0"/>
                <a:cs typeface="Times New Roman" panose="02020603050405020304" pitchFamily="18" charset="0"/>
              </a:rPr>
            </a:br>
            <a:r>
              <a:rPr lang="en-US" sz="800" b="1" dirty="0">
                <a:latin typeface="Times New Roman" panose="02020603050405020304" pitchFamily="18" charset="0"/>
                <a:cs typeface="Times New Roman" panose="02020603050405020304" pitchFamily="18" charset="0"/>
              </a:rPr>
              <a:t>Science, 356</a:t>
            </a:r>
            <a:r>
              <a:rPr lang="en-US" sz="800" dirty="0">
                <a:latin typeface="Times New Roman" panose="02020603050405020304" pitchFamily="18" charset="0"/>
                <a:cs typeface="Times New Roman" panose="02020603050405020304" pitchFamily="18" charset="0"/>
              </a:rPr>
              <a:t>, 821–825.</a:t>
            </a:r>
          </a:p>
          <a:p>
            <a:r>
              <a:rPr lang="en-US" sz="800" dirty="0">
                <a:latin typeface="Times New Roman" panose="02020603050405020304" pitchFamily="18" charset="0"/>
                <a:cs typeface="Times New Roman" panose="02020603050405020304" pitchFamily="18" charset="0"/>
              </a:rPr>
              <a:t>Wahl, S. M. et al. (2017).</a:t>
            </a:r>
            <a:br>
              <a:rPr lang="en-US" sz="800" dirty="0">
                <a:latin typeface="Times New Roman" panose="02020603050405020304" pitchFamily="18" charset="0"/>
                <a:cs typeface="Times New Roman" panose="02020603050405020304" pitchFamily="18" charset="0"/>
              </a:rPr>
            </a:br>
            <a:r>
              <a:rPr lang="en-US" sz="800" i="1" dirty="0">
                <a:latin typeface="Times New Roman" panose="02020603050405020304" pitchFamily="18" charset="0"/>
                <a:cs typeface="Times New Roman" panose="02020603050405020304" pitchFamily="18" charset="0"/>
              </a:rPr>
              <a:t>Comparing Jupiter interior structure models to Juno gravity measurements.</a:t>
            </a:r>
            <a:br>
              <a:rPr lang="en-US" sz="800" dirty="0">
                <a:latin typeface="Times New Roman" panose="02020603050405020304" pitchFamily="18" charset="0"/>
                <a:cs typeface="Times New Roman" panose="02020603050405020304" pitchFamily="18" charset="0"/>
              </a:rPr>
            </a:br>
            <a:r>
              <a:rPr lang="en-US" sz="800" b="1" dirty="0">
                <a:latin typeface="Times New Roman" panose="02020603050405020304" pitchFamily="18" charset="0"/>
                <a:cs typeface="Times New Roman" panose="02020603050405020304" pitchFamily="18" charset="0"/>
              </a:rPr>
              <a:t>Geophysical Research Letters, 44</a:t>
            </a:r>
            <a:r>
              <a:rPr lang="en-US" sz="800" dirty="0">
                <a:latin typeface="Times New Roman" panose="02020603050405020304" pitchFamily="18" charset="0"/>
                <a:cs typeface="Times New Roman" panose="02020603050405020304" pitchFamily="18" charset="0"/>
              </a:rPr>
              <a:t>, 4649–4659.</a:t>
            </a:r>
          </a:p>
          <a:p>
            <a:r>
              <a:rPr lang="en-US" sz="800" dirty="0">
                <a:latin typeface="Times New Roman" panose="02020603050405020304" pitchFamily="18" charset="0"/>
                <a:cs typeface="Times New Roman" panose="02020603050405020304" pitchFamily="18" charset="0"/>
              </a:rPr>
              <a:t>Atreya, S. K. et al. (2016).</a:t>
            </a:r>
            <a:br>
              <a:rPr lang="en-US" sz="800" dirty="0">
                <a:latin typeface="Times New Roman" panose="02020603050405020304" pitchFamily="18" charset="0"/>
                <a:cs typeface="Times New Roman" panose="02020603050405020304" pitchFamily="18" charset="0"/>
              </a:rPr>
            </a:br>
            <a:r>
              <a:rPr lang="en-US" sz="800" i="1" dirty="0">
                <a:latin typeface="Times New Roman" panose="02020603050405020304" pitchFamily="18" charset="0"/>
                <a:cs typeface="Times New Roman" panose="02020603050405020304" pitchFamily="18" charset="0"/>
              </a:rPr>
              <a:t>Deep atmosphere composition, structure, origin, and evolution of Jupiter.</a:t>
            </a:r>
            <a:br>
              <a:rPr lang="en-US" sz="800" dirty="0">
                <a:latin typeface="Times New Roman" panose="02020603050405020304" pitchFamily="18" charset="0"/>
                <a:cs typeface="Times New Roman" panose="02020603050405020304" pitchFamily="18" charset="0"/>
              </a:rPr>
            </a:br>
            <a:r>
              <a:rPr lang="en-US" sz="800" b="1" dirty="0">
                <a:latin typeface="Times New Roman" panose="02020603050405020304" pitchFamily="18" charset="0"/>
                <a:cs typeface="Times New Roman" panose="02020603050405020304" pitchFamily="18" charset="0"/>
              </a:rPr>
              <a:t>Space Science Reviews, 213</a:t>
            </a:r>
            <a:r>
              <a:rPr lang="en-US" sz="800" dirty="0">
                <a:latin typeface="Times New Roman" panose="02020603050405020304" pitchFamily="18" charset="0"/>
                <a:cs typeface="Times New Roman" panose="02020603050405020304" pitchFamily="18" charset="0"/>
              </a:rPr>
              <a:t>, 451–476.</a:t>
            </a:r>
          </a:p>
          <a:p>
            <a:r>
              <a:rPr lang="en-US" sz="800" dirty="0">
                <a:latin typeface="Times New Roman" panose="02020603050405020304" pitchFamily="18" charset="0"/>
                <a:cs typeface="Times New Roman" panose="02020603050405020304" pitchFamily="18" charset="0"/>
              </a:rPr>
              <a:t>Guillot, T. et al. (2004).</a:t>
            </a:r>
            <a:br>
              <a:rPr lang="en-US" sz="800" dirty="0">
                <a:latin typeface="Times New Roman" panose="02020603050405020304" pitchFamily="18" charset="0"/>
                <a:cs typeface="Times New Roman" panose="02020603050405020304" pitchFamily="18" charset="0"/>
              </a:rPr>
            </a:br>
            <a:r>
              <a:rPr lang="en-US" sz="800" i="1" dirty="0">
                <a:latin typeface="Times New Roman" panose="02020603050405020304" pitchFamily="18" charset="0"/>
                <a:cs typeface="Times New Roman" panose="02020603050405020304" pitchFamily="18" charset="0"/>
              </a:rPr>
              <a:t>The interior of Jupiter.</a:t>
            </a:r>
            <a:br>
              <a:rPr lang="en-US" sz="800" dirty="0">
                <a:latin typeface="Times New Roman" panose="02020603050405020304" pitchFamily="18" charset="0"/>
                <a:cs typeface="Times New Roman" panose="02020603050405020304" pitchFamily="18" charset="0"/>
              </a:rPr>
            </a:br>
            <a:r>
              <a:rPr lang="en-US" sz="800" b="1" dirty="0">
                <a:latin typeface="Times New Roman" panose="02020603050405020304" pitchFamily="18" charset="0"/>
                <a:cs typeface="Times New Roman" panose="02020603050405020304" pitchFamily="18" charset="0"/>
              </a:rPr>
              <a:t>In Jupiter: The Planet, Satellites and Magnetosphere (Cambridge Univ. Press)</a:t>
            </a:r>
          </a:p>
          <a:p>
            <a:r>
              <a:rPr lang="en-US" sz="800" dirty="0">
                <a:latin typeface="Times New Roman" panose="02020603050405020304" pitchFamily="18" charset="0"/>
                <a:cs typeface="Times New Roman" panose="02020603050405020304" pitchFamily="18" charset="0"/>
              </a:rPr>
              <a:t>Li, C. et al. (2017).</a:t>
            </a:r>
            <a:br>
              <a:rPr lang="en-US" sz="800" dirty="0">
                <a:latin typeface="Times New Roman" panose="02020603050405020304" pitchFamily="18" charset="0"/>
                <a:cs typeface="Times New Roman" panose="02020603050405020304" pitchFamily="18" charset="0"/>
              </a:rPr>
            </a:br>
            <a:r>
              <a:rPr lang="en-US" sz="800" i="1" dirty="0">
                <a:latin typeface="Times New Roman" panose="02020603050405020304" pitchFamily="18" charset="0"/>
                <a:cs typeface="Times New Roman" panose="02020603050405020304" pitchFamily="18" charset="0"/>
              </a:rPr>
              <a:t>The distribution of ammonia on Jupiter from Juno.</a:t>
            </a:r>
            <a:br>
              <a:rPr lang="en-US" sz="800" dirty="0">
                <a:latin typeface="Times New Roman" panose="02020603050405020304" pitchFamily="18" charset="0"/>
                <a:cs typeface="Times New Roman" panose="02020603050405020304" pitchFamily="18" charset="0"/>
              </a:rPr>
            </a:br>
            <a:r>
              <a:rPr lang="en-US" sz="800" b="1" dirty="0">
                <a:latin typeface="Times New Roman" panose="02020603050405020304" pitchFamily="18" charset="0"/>
                <a:cs typeface="Times New Roman" panose="02020603050405020304" pitchFamily="18" charset="0"/>
              </a:rPr>
              <a:t>Geophysical Research Letters, 44</a:t>
            </a:r>
            <a:r>
              <a:rPr lang="en-US" sz="800" dirty="0">
                <a:latin typeface="Times New Roman" panose="02020603050405020304" pitchFamily="18" charset="0"/>
                <a:cs typeface="Times New Roman" panose="02020603050405020304" pitchFamily="18" charset="0"/>
              </a:rPr>
              <a:t>, 5317–5325.</a:t>
            </a:r>
          </a:p>
          <a:p>
            <a:r>
              <a:rPr lang="en-US" sz="800" dirty="0">
                <a:latin typeface="Times New Roman" panose="02020603050405020304" pitchFamily="18" charset="0"/>
                <a:cs typeface="Times New Roman" panose="02020603050405020304" pitchFamily="18" charset="0"/>
              </a:rPr>
              <a:t>Fletcher, L. N. et al. (2023).</a:t>
            </a:r>
            <a:br>
              <a:rPr lang="en-US" sz="800" dirty="0">
                <a:latin typeface="Times New Roman" panose="02020603050405020304" pitchFamily="18" charset="0"/>
                <a:cs typeface="Times New Roman" panose="02020603050405020304" pitchFamily="18" charset="0"/>
              </a:rPr>
            </a:br>
            <a:r>
              <a:rPr lang="en-US" sz="800" i="1" dirty="0">
                <a:latin typeface="Times New Roman" panose="02020603050405020304" pitchFamily="18" charset="0"/>
                <a:cs typeface="Times New Roman" panose="02020603050405020304" pitchFamily="18" charset="0"/>
              </a:rPr>
              <a:t>Jupiter’s weather and circulation revealed by JWST.</a:t>
            </a:r>
            <a:br>
              <a:rPr lang="en-US" sz="800" dirty="0">
                <a:latin typeface="Times New Roman" panose="02020603050405020304" pitchFamily="18" charset="0"/>
                <a:cs typeface="Times New Roman" panose="02020603050405020304" pitchFamily="18" charset="0"/>
              </a:rPr>
            </a:br>
            <a:r>
              <a:rPr lang="en-US" sz="800" b="1" dirty="0">
                <a:latin typeface="Times New Roman" panose="02020603050405020304" pitchFamily="18" charset="0"/>
                <a:cs typeface="Times New Roman" panose="02020603050405020304" pitchFamily="18" charset="0"/>
              </a:rPr>
              <a:t>Nature Astronomy, 7</a:t>
            </a:r>
            <a:r>
              <a:rPr lang="en-US" sz="800" dirty="0">
                <a:latin typeface="Times New Roman" panose="02020603050405020304" pitchFamily="18" charset="0"/>
                <a:cs typeface="Times New Roman" panose="02020603050405020304" pitchFamily="18" charset="0"/>
              </a:rPr>
              <a:t>, 1095–1105.</a:t>
            </a:r>
          </a:p>
          <a:p>
            <a:r>
              <a:rPr lang="en-IN" sz="800" dirty="0">
                <a:latin typeface="Times New Roman" panose="02020603050405020304" pitchFamily="18" charset="0"/>
                <a:cs typeface="Times New Roman" panose="02020603050405020304" pitchFamily="18" charset="0"/>
              </a:rPr>
              <a:t>Bolton, S. J. et al. (2021).</a:t>
            </a:r>
            <a:br>
              <a:rPr lang="en-IN" sz="800" dirty="0">
                <a:latin typeface="Times New Roman" panose="02020603050405020304" pitchFamily="18" charset="0"/>
                <a:cs typeface="Times New Roman" panose="02020603050405020304" pitchFamily="18" charset="0"/>
              </a:rPr>
            </a:br>
            <a:r>
              <a:rPr lang="en-IN" sz="800" i="1" dirty="0">
                <a:latin typeface="Times New Roman" panose="02020603050405020304" pitchFamily="18" charset="0"/>
                <a:cs typeface="Times New Roman" panose="02020603050405020304" pitchFamily="18" charset="0"/>
              </a:rPr>
              <a:t>Juno observations of Jupiter’s auroral processes.</a:t>
            </a:r>
            <a:br>
              <a:rPr lang="en-IN" sz="800" dirty="0">
                <a:latin typeface="Times New Roman" panose="02020603050405020304" pitchFamily="18" charset="0"/>
                <a:cs typeface="Times New Roman" panose="02020603050405020304" pitchFamily="18" charset="0"/>
              </a:rPr>
            </a:br>
            <a:r>
              <a:rPr lang="en-IN" sz="800" b="1" dirty="0">
                <a:latin typeface="Times New Roman" panose="02020603050405020304" pitchFamily="18" charset="0"/>
                <a:cs typeface="Times New Roman" panose="02020603050405020304" pitchFamily="18" charset="0"/>
              </a:rPr>
              <a:t>Science, 374</a:t>
            </a:r>
            <a:r>
              <a:rPr lang="en-IN" sz="800" dirty="0">
                <a:latin typeface="Times New Roman" panose="02020603050405020304" pitchFamily="18" charset="0"/>
                <a:cs typeface="Times New Roman" panose="02020603050405020304" pitchFamily="18" charset="0"/>
              </a:rPr>
              <a:t>, 963–967.</a:t>
            </a:r>
          </a:p>
          <a:p>
            <a:r>
              <a:rPr lang="en-US" sz="800" dirty="0">
                <a:latin typeface="Times New Roman" panose="02020603050405020304" pitchFamily="18" charset="0"/>
                <a:cs typeface="Times New Roman" panose="02020603050405020304" pitchFamily="18" charset="0"/>
              </a:rPr>
              <a:t>Showalter, M. R. et al. (2008).</a:t>
            </a:r>
            <a:br>
              <a:rPr lang="en-US" sz="800" dirty="0">
                <a:latin typeface="Times New Roman" panose="02020603050405020304" pitchFamily="18" charset="0"/>
                <a:cs typeface="Times New Roman" panose="02020603050405020304" pitchFamily="18" charset="0"/>
              </a:rPr>
            </a:br>
            <a:r>
              <a:rPr lang="en-US" sz="800" i="1" dirty="0">
                <a:latin typeface="Times New Roman" panose="02020603050405020304" pitchFamily="18" charset="0"/>
                <a:cs typeface="Times New Roman" panose="02020603050405020304" pitchFamily="18" charset="0"/>
              </a:rPr>
              <a:t>Jupiter’s rings and inner moons.</a:t>
            </a:r>
            <a:br>
              <a:rPr lang="en-US" sz="800" dirty="0">
                <a:latin typeface="Times New Roman" panose="02020603050405020304" pitchFamily="18" charset="0"/>
                <a:cs typeface="Times New Roman" panose="02020603050405020304" pitchFamily="18" charset="0"/>
              </a:rPr>
            </a:br>
            <a:r>
              <a:rPr lang="en-US" sz="800" b="1" dirty="0">
                <a:latin typeface="Times New Roman" panose="02020603050405020304" pitchFamily="18" charset="0"/>
                <a:cs typeface="Times New Roman" panose="02020603050405020304" pitchFamily="18" charset="0"/>
              </a:rPr>
              <a:t>Science, 322</a:t>
            </a:r>
            <a:r>
              <a:rPr lang="en-US" sz="800" dirty="0">
                <a:latin typeface="Times New Roman" panose="02020603050405020304" pitchFamily="18" charset="0"/>
                <a:cs typeface="Times New Roman" panose="02020603050405020304" pitchFamily="18" charset="0"/>
              </a:rPr>
              <a:t>, 1081–1084.</a:t>
            </a:r>
          </a:p>
          <a:p>
            <a:r>
              <a:rPr lang="en-US" sz="800" dirty="0">
                <a:latin typeface="Times New Roman" panose="02020603050405020304" pitchFamily="18" charset="0"/>
                <a:cs typeface="Times New Roman" panose="02020603050405020304" pitchFamily="18" charset="0"/>
              </a:rPr>
              <a:t>Walsh, K. J. et al. (2011).</a:t>
            </a:r>
            <a:br>
              <a:rPr lang="en-US" sz="800" dirty="0">
                <a:latin typeface="Times New Roman" panose="02020603050405020304" pitchFamily="18" charset="0"/>
                <a:cs typeface="Times New Roman" panose="02020603050405020304" pitchFamily="18" charset="0"/>
              </a:rPr>
            </a:br>
            <a:r>
              <a:rPr lang="en-US" sz="800" i="1" dirty="0">
                <a:latin typeface="Times New Roman" panose="02020603050405020304" pitchFamily="18" charset="0"/>
                <a:cs typeface="Times New Roman" panose="02020603050405020304" pitchFamily="18" charset="0"/>
              </a:rPr>
              <a:t>A low mass for Mars from Jupiter’s early gas-driven migration.</a:t>
            </a:r>
            <a:br>
              <a:rPr lang="en-US" sz="800" dirty="0">
                <a:latin typeface="Times New Roman" panose="02020603050405020304" pitchFamily="18" charset="0"/>
                <a:cs typeface="Times New Roman" panose="02020603050405020304" pitchFamily="18" charset="0"/>
              </a:rPr>
            </a:br>
            <a:r>
              <a:rPr lang="en-US" sz="800" b="1" dirty="0">
                <a:latin typeface="Times New Roman" panose="02020603050405020304" pitchFamily="18" charset="0"/>
                <a:cs typeface="Times New Roman" panose="02020603050405020304" pitchFamily="18" charset="0"/>
              </a:rPr>
              <a:t>Nature, 475</a:t>
            </a:r>
            <a:r>
              <a:rPr lang="en-US" sz="800" dirty="0">
                <a:latin typeface="Times New Roman" panose="02020603050405020304" pitchFamily="18" charset="0"/>
                <a:cs typeface="Times New Roman" panose="02020603050405020304" pitchFamily="18" charset="0"/>
              </a:rPr>
              <a:t>, 206–209.</a:t>
            </a:r>
            <a:endParaRPr lang="en-IN"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12314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1002</TotalTime>
  <Words>5548</Words>
  <Application>Microsoft Office PowerPoint</Application>
  <PresentationFormat>Widescreen</PresentationFormat>
  <Paragraphs>276</Paragraphs>
  <Slides>21</Slides>
  <Notes>21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21</vt:i4>
      </vt:variant>
    </vt:vector>
  </HeadingPairs>
  <TitlesOfParts>
    <vt:vector size="30" baseType="lpstr">
      <vt:lpstr>Aptos</vt:lpstr>
      <vt:lpstr>Aptos Display</vt:lpstr>
      <vt:lpstr>Arial</vt:lpstr>
      <vt:lpstr>Bookman Old Style</vt:lpstr>
      <vt:lpstr>Cambria Math</vt:lpstr>
      <vt:lpstr>Tahoma</vt:lpstr>
      <vt:lpstr>Times New Roman</vt:lpstr>
      <vt:lpstr>Office Theme</vt:lpstr>
      <vt:lpstr>1_Office Theme</vt:lpstr>
      <vt:lpstr>THE JUPITER SYSTEM</vt:lpstr>
      <vt:lpstr>CONTENT</vt:lpstr>
      <vt:lpstr>OVERVIEW OF JUPITER</vt:lpstr>
      <vt:lpstr>FORMATION</vt:lpstr>
      <vt:lpstr>FORMATION</vt:lpstr>
      <vt:lpstr>MIGRATION</vt:lpstr>
      <vt:lpstr>ATMOSPHERE</vt:lpstr>
      <vt:lpstr>ATMOSPHERE</vt:lpstr>
      <vt:lpstr>GREAT RED SPOT</vt:lpstr>
      <vt:lpstr>JUNO’S FINDINGS</vt:lpstr>
      <vt:lpstr>JUPITER’S CORE</vt:lpstr>
      <vt:lpstr>MAGNETIC FIELD</vt:lpstr>
      <vt:lpstr>WHAT EXPLAINS THE “FUZZY CORE”</vt:lpstr>
      <vt:lpstr>GALILEAN MOONS</vt:lpstr>
      <vt:lpstr>RINGS AND OTHER MOONS</vt:lpstr>
      <vt:lpstr>JUPITER TROJANS</vt:lpstr>
      <vt:lpstr>JUPITER’S INFLUENCE</vt:lpstr>
      <vt:lpstr>HELIUM RAIN</vt:lpstr>
      <vt:lpstr>CONCLUSION</vt:lpstr>
      <vt:lpstr>THANK YOU</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Neelesh Pandey</dc:creator>
  <cp:lastModifiedBy>Neelesh Pandey</cp:lastModifiedBy>
  <cp:revision>2</cp:revision>
  <cp:lastPrinted>2026-01-30T18:06:58Z</cp:lastPrinted>
  <dcterms:created xsi:type="dcterms:W3CDTF">2026-01-29T16:04:12Z</dcterms:created>
  <dcterms:modified xsi:type="dcterms:W3CDTF">2026-06-04T18:49:36Z</dcterms:modified>
</cp:coreProperties>
</file>